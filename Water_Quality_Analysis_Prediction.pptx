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63" d="100"/>
          <a:sy n="63" d="100"/>
        </p:scale>
        <p:origin x="77" y="84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63277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10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4.png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5.png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4.png"/><Relationship Id="rId4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3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288D1"/>
          </a:solidFill>
          <a:ln/>
        </p:spPr>
      </p:sp>
      <p:sp>
        <p:nvSpPr>
          <p:cNvPr id="3" name="Shape 1"/>
          <p:cNvSpPr/>
          <p:nvPr/>
        </p:nvSpPr>
        <p:spPr>
          <a:xfrm>
            <a:off x="7315200" y="-640080"/>
            <a:ext cx="2743200" cy="2743200"/>
          </a:xfrm>
          <a:prstGeom prst="ellipse">
            <a:avLst/>
          </a:prstGeom>
          <a:solidFill>
            <a:srgbClr val="1565C0">
              <a:alpha val="30000"/>
            </a:srgbClr>
          </a:solidFill>
          <a:ln w="12700">
            <a:solidFill>
              <a:srgbClr val="0288D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0" y="-182880"/>
            <a:ext cx="1645920" cy="1645920"/>
          </a:xfrm>
          <a:prstGeom prst="ellipse">
            <a:avLst/>
          </a:prstGeom>
          <a:solidFill>
            <a:srgbClr val="00ACC1">
              <a:alpha val="40000"/>
            </a:srgbClr>
          </a:solidFill>
          <a:ln w="12700">
            <a:solidFill>
              <a:srgbClr val="0288D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-457200" y="3749040"/>
            <a:ext cx="2286000" cy="2286000"/>
          </a:xfrm>
          <a:prstGeom prst="ellipse">
            <a:avLst/>
          </a:prstGeom>
          <a:solidFill>
            <a:srgbClr val="0288D1">
              <a:alpha val="25000"/>
            </a:srgbClr>
          </a:solidFill>
          <a:ln w="12700">
            <a:solidFill>
              <a:srgbClr val="0288D1"/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411480"/>
            <a:ext cx="822960" cy="8229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47472" y="11887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 Quality Analysis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347472" y="1920240"/>
            <a:ext cx="8412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00AC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Prediction</a:t>
            </a:r>
            <a:endParaRPr lang="en-US" sz="4000" dirty="0"/>
          </a:p>
        </p:txBody>
      </p:sp>
      <p:sp>
        <p:nvSpPr>
          <p:cNvPr id="9" name="Shape 6"/>
          <p:cNvSpPr/>
          <p:nvPr/>
        </p:nvSpPr>
        <p:spPr>
          <a:xfrm>
            <a:off x="1371600" y="2743200"/>
            <a:ext cx="6400800" cy="594360"/>
          </a:xfrm>
          <a:prstGeom prst="rect">
            <a:avLst/>
          </a:prstGeom>
          <a:solidFill>
            <a:srgbClr val="0288D1">
              <a:alpha val="80000"/>
            </a:srgbClr>
          </a:solidFill>
          <a:ln/>
        </p:spPr>
      </p:sp>
      <p:sp>
        <p:nvSpPr>
          <p:cNvPr id="10" name="Text 7"/>
          <p:cNvSpPr/>
          <p:nvPr/>
        </p:nvSpPr>
        <p:spPr>
          <a:xfrm>
            <a:off x="1371600" y="2743200"/>
            <a:ext cx="6400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Machine Learning-based Environmental Monitoring System</a:t>
            </a:r>
            <a:endParaRPr lang="en-US" sz="1400" dirty="0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400" y="3520440"/>
            <a:ext cx="365760" cy="36576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657600" y="3502152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3F2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ANANTHAN S   |   MUHAMMED SHAHID S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347472" y="402336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Members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201168" y="4800600"/>
            <a:ext cx="8942832" cy="342900"/>
          </a:xfrm>
          <a:prstGeom prst="rect">
            <a:avLst/>
          </a:prstGeom>
          <a:solidFill>
            <a:srgbClr val="1565C0">
              <a:alpha val="70000"/>
            </a:srgbClr>
          </a:solidFill>
          <a:ln/>
        </p:spPr>
      </p:sp>
      <p:sp>
        <p:nvSpPr>
          <p:cNvPr id="15" name="Text 11"/>
          <p:cNvSpPr/>
          <p:nvPr/>
        </p:nvSpPr>
        <p:spPr>
          <a:xfrm>
            <a:off x="347472" y="4800600"/>
            <a:ext cx="86868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E3F2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Learning Project  |  2025–2026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A234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9144000" cy="64008"/>
          </a:xfrm>
          <a:prstGeom prst="rect">
            <a:avLst/>
          </a:prstGeom>
          <a:solidFill>
            <a:srgbClr val="0288D1"/>
          </a:solidFill>
          <a:ln/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82880"/>
            <a:ext cx="548640" cy="5486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60120" y="73152"/>
            <a:ext cx="71323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Overview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8229600" y="137160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000" b="1" dirty="0">
                <a:solidFill>
                  <a:srgbClr val="0288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A2342"/>
          </a:solidFill>
          <a:ln/>
        </p:spPr>
      </p:sp>
      <p:sp>
        <p:nvSpPr>
          <p:cNvPr id="8" name="Text 5"/>
          <p:cNvSpPr/>
          <p:nvPr/>
        </p:nvSpPr>
        <p:spPr>
          <a:xfrm>
            <a:off x="274320" y="4892040"/>
            <a:ext cx="859536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3F2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 Quality Analysis &amp; Prediction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320040" y="1188720"/>
            <a:ext cx="4114800" cy="34747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20040" y="1188720"/>
            <a:ext cx="4114800" cy="502920"/>
          </a:xfrm>
          <a:prstGeom prst="rect">
            <a:avLst/>
          </a:prstGeom>
          <a:solidFill>
            <a:srgbClr val="1565C0"/>
          </a:solidFill>
          <a:ln/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8" y="1234440"/>
            <a:ext cx="384048" cy="38404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886968" y="1188720"/>
            <a:ext cx="34381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IN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548640" y="1828800"/>
            <a:ext cx="370332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 whether water is safe</a:t>
            </a:r>
            <a:endParaRPr lang="en-US" sz="14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drinking (potable) based on</a:t>
            </a:r>
            <a:endParaRPr lang="en-US" sz="14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measurable chemical &amp; physical</a:t>
            </a:r>
            <a:endParaRPr lang="en-US" sz="14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properties.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4709160" y="1188720"/>
            <a:ext cx="4114800" cy="34747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4709160" y="1188720"/>
            <a:ext cx="4114800" cy="502920"/>
          </a:xfrm>
          <a:prstGeom prst="rect">
            <a:avLst/>
          </a:prstGeom>
          <a:solidFill>
            <a:srgbClr val="00ACC1"/>
          </a:solidFill>
          <a:ln/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18888" y="1234440"/>
            <a:ext cx="384048" cy="38404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5276088" y="1188720"/>
            <a:ext cx="34381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Approach It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4937760" y="1828800"/>
            <a:ext cx="370332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Machine Learning models</a:t>
            </a:r>
            <a:endParaRPr lang="en-US" sz="14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classify water samples as</a:t>
            </a:r>
            <a:endParaRPr lang="en-US" sz="14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Potable (1) or Non-Potable (0)</a:t>
            </a:r>
            <a:endParaRPr lang="en-US" sz="14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9 key water parameters.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320040" y="4572000"/>
            <a:ext cx="8503920" cy="256032"/>
          </a:xfrm>
          <a:prstGeom prst="rect">
            <a:avLst/>
          </a:prstGeom>
          <a:solidFill>
            <a:srgbClr val="E8F5E9"/>
          </a:solidFill>
          <a:ln/>
        </p:spPr>
      </p:sp>
      <p:sp>
        <p:nvSpPr>
          <p:cNvPr id="20" name="Text 15"/>
          <p:cNvSpPr/>
          <p:nvPr/>
        </p:nvSpPr>
        <p:spPr>
          <a:xfrm>
            <a:off x="320040" y="4572000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 Goal: Build an automated system that accurately classifies water quality using ML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A234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9144000" cy="64008"/>
          </a:xfrm>
          <a:prstGeom prst="rect">
            <a:avLst/>
          </a:prstGeom>
          <a:solidFill>
            <a:srgbClr val="0288D1"/>
          </a:solidFill>
          <a:ln/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82880"/>
            <a:ext cx="548640" cy="5486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60120" y="73152"/>
            <a:ext cx="71323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8229600" y="137160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000" b="1" dirty="0">
                <a:solidFill>
                  <a:srgbClr val="0288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A2342"/>
          </a:solidFill>
          <a:ln/>
        </p:spPr>
      </p:sp>
      <p:sp>
        <p:nvSpPr>
          <p:cNvPr id="8" name="Text 5"/>
          <p:cNvSpPr/>
          <p:nvPr/>
        </p:nvSpPr>
        <p:spPr>
          <a:xfrm>
            <a:off x="274320" y="4892040"/>
            <a:ext cx="859536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3F2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 Quality Analysis &amp; Prediction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320040" y="1188720"/>
            <a:ext cx="8503920" cy="960120"/>
          </a:xfrm>
          <a:prstGeom prst="rect">
            <a:avLst/>
          </a:prstGeom>
          <a:solidFill>
            <a:srgbClr val="FFEBEE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20040" y="1188720"/>
            <a:ext cx="109728" cy="960120"/>
          </a:xfrm>
          <a:prstGeom prst="rect">
            <a:avLst/>
          </a:prstGeom>
          <a:solidFill>
            <a:srgbClr val="E53935"/>
          </a:solidFill>
          <a:ln/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1417320"/>
            <a:ext cx="502920" cy="50292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143000" y="1280160"/>
            <a:ext cx="7498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Risk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1143000" y="162763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in 3 people globally lack access to safe drinking water, leading to disease and death.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320040" y="2331720"/>
            <a:ext cx="8503920" cy="960120"/>
          </a:xfrm>
          <a:prstGeom prst="rect">
            <a:avLst/>
          </a:prstGeom>
          <a:solidFill>
            <a:srgbClr val="FFF8E1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320040" y="2331720"/>
            <a:ext cx="109728" cy="960120"/>
          </a:xfrm>
          <a:prstGeom prst="rect">
            <a:avLst/>
          </a:prstGeom>
          <a:solidFill>
            <a:srgbClr val="F9A825"/>
          </a:solidFill>
          <a:ln/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920" y="2560320"/>
            <a:ext cx="502920" cy="50292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143000" y="2423160"/>
            <a:ext cx="7498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Testing is Slow</a:t>
            </a:r>
            <a:endParaRPr lang="en-US" sz="1500" dirty="0"/>
          </a:p>
        </p:txBody>
      </p:sp>
      <p:sp>
        <p:nvSpPr>
          <p:cNvPr id="18" name="Text 13"/>
          <p:cNvSpPr/>
          <p:nvPr/>
        </p:nvSpPr>
        <p:spPr>
          <a:xfrm>
            <a:off x="1143000" y="277063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 lab testing is expensive, time-consuming, and cannot scale for large water bodies.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320040" y="3474720"/>
            <a:ext cx="8503920" cy="960120"/>
          </a:xfrm>
          <a:prstGeom prst="rect">
            <a:avLst/>
          </a:prstGeom>
          <a:solidFill>
            <a:srgbClr val="E3F2FD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320040" y="3474720"/>
            <a:ext cx="109728" cy="960120"/>
          </a:xfrm>
          <a:prstGeom prst="rect">
            <a:avLst/>
          </a:prstGeom>
          <a:solidFill>
            <a:srgbClr val="1565C0"/>
          </a:solidFill>
          <a:ln/>
        </p:spPr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2920" y="3703320"/>
            <a:ext cx="502920" cy="50292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143000" y="3566160"/>
            <a:ext cx="7498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Real-Time Detection</a:t>
            </a:r>
            <a:endParaRPr lang="en-US" sz="1500" dirty="0"/>
          </a:p>
        </p:txBody>
      </p:sp>
      <p:sp>
        <p:nvSpPr>
          <p:cNvPr id="23" name="Text 17"/>
          <p:cNvSpPr/>
          <p:nvPr/>
        </p:nvSpPr>
        <p:spPr>
          <a:xfrm>
            <a:off x="1143000" y="391363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no fast, automated system to instantly classify water as safe or unsafe at scale.</a:t>
            </a:r>
            <a:endParaRPr lang="en-US" sz="1300" dirty="0"/>
          </a:p>
        </p:txBody>
      </p:sp>
      <p:sp>
        <p:nvSpPr>
          <p:cNvPr id="24" name="Shape 18"/>
          <p:cNvSpPr/>
          <p:nvPr/>
        </p:nvSpPr>
        <p:spPr>
          <a:xfrm>
            <a:off x="320040" y="4572000"/>
            <a:ext cx="8503920" cy="256032"/>
          </a:xfrm>
          <a:prstGeom prst="rect">
            <a:avLst/>
          </a:prstGeom>
          <a:solidFill>
            <a:srgbClr val="E8F5E9"/>
          </a:solidFill>
          <a:ln/>
        </p:spPr>
      </p:sp>
      <p:sp>
        <p:nvSpPr>
          <p:cNvPr id="25" name="Text 19"/>
          <p:cNvSpPr/>
          <p:nvPr/>
        </p:nvSpPr>
        <p:spPr>
          <a:xfrm>
            <a:off x="320040" y="4572000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Our Solution: An ML-based system to instantly classify water potability with high accuracy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A234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9144000" cy="64008"/>
          </a:xfrm>
          <a:prstGeom prst="rect">
            <a:avLst/>
          </a:prstGeom>
          <a:solidFill>
            <a:srgbClr val="0288D1"/>
          </a:solidFill>
          <a:ln/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82880"/>
            <a:ext cx="548640" cy="5486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60120" y="73152"/>
            <a:ext cx="71323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Description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8229600" y="137160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000" b="1" dirty="0">
                <a:solidFill>
                  <a:srgbClr val="0288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A2342"/>
          </a:solidFill>
          <a:ln/>
        </p:spPr>
      </p:sp>
      <p:sp>
        <p:nvSpPr>
          <p:cNvPr id="8" name="Text 5"/>
          <p:cNvSpPr/>
          <p:nvPr/>
        </p:nvSpPr>
        <p:spPr>
          <a:xfrm>
            <a:off x="274320" y="4892040"/>
            <a:ext cx="859536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3F2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 Quality Analysis &amp; Prediction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320040" y="1078992"/>
            <a:ext cx="5669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Features (9 Parameters)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320040" y="1444752"/>
            <a:ext cx="2606040" cy="658368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20040" y="1444752"/>
            <a:ext cx="2606040" cy="73152"/>
          </a:xfrm>
          <a:prstGeom prst="rect">
            <a:avLst/>
          </a:prstGeom>
          <a:solidFill>
            <a:srgbClr val="0288D1"/>
          </a:solidFill>
          <a:ln/>
        </p:spPr>
      </p:sp>
      <p:sp>
        <p:nvSpPr>
          <p:cNvPr id="12" name="Text 9"/>
          <p:cNvSpPr/>
          <p:nvPr/>
        </p:nvSpPr>
        <p:spPr>
          <a:xfrm>
            <a:off x="429768" y="1554480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429768" y="1828800"/>
            <a:ext cx="2423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Acid/base level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2999232" y="1444752"/>
            <a:ext cx="2606040" cy="658368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2999232" y="1444752"/>
            <a:ext cx="2606040" cy="73152"/>
          </a:xfrm>
          <a:prstGeom prst="rect">
            <a:avLst/>
          </a:prstGeom>
          <a:solidFill>
            <a:srgbClr val="0288D1"/>
          </a:solidFill>
          <a:ln/>
        </p:spPr>
      </p:sp>
      <p:sp>
        <p:nvSpPr>
          <p:cNvPr id="16" name="Text 13"/>
          <p:cNvSpPr/>
          <p:nvPr/>
        </p:nvSpPr>
        <p:spPr>
          <a:xfrm>
            <a:off x="3108960" y="1554480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Hardness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3108960" y="1828800"/>
            <a:ext cx="2423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Mineral content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313113" y="3604953"/>
            <a:ext cx="2606040" cy="658368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320040" y="3643885"/>
            <a:ext cx="2606040" cy="73152"/>
          </a:xfrm>
          <a:prstGeom prst="rect">
            <a:avLst/>
          </a:prstGeom>
          <a:solidFill>
            <a:srgbClr val="0288D1"/>
          </a:solidFill>
          <a:ln/>
        </p:spPr>
      </p:sp>
      <p:sp>
        <p:nvSpPr>
          <p:cNvPr id="20" name="Text 17"/>
          <p:cNvSpPr/>
          <p:nvPr/>
        </p:nvSpPr>
        <p:spPr>
          <a:xfrm>
            <a:off x="404553" y="3643885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Solids (TDS)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404553" y="3879341"/>
            <a:ext cx="2423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dissolved solids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320040" y="2157984"/>
            <a:ext cx="2606040" cy="658368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320040" y="2157984"/>
            <a:ext cx="2606040" cy="73152"/>
          </a:xfrm>
          <a:prstGeom prst="rect">
            <a:avLst/>
          </a:prstGeom>
          <a:solidFill>
            <a:srgbClr val="0288D1"/>
          </a:solidFill>
          <a:ln/>
        </p:spPr>
      </p:sp>
      <p:sp>
        <p:nvSpPr>
          <p:cNvPr id="24" name="Text 21"/>
          <p:cNvSpPr/>
          <p:nvPr/>
        </p:nvSpPr>
        <p:spPr>
          <a:xfrm>
            <a:off x="429768" y="2267712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Chloramines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429768" y="2542032"/>
            <a:ext cx="2423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Disinfectant level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2999232" y="2157984"/>
            <a:ext cx="2606040" cy="658368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2999232" y="2157984"/>
            <a:ext cx="2606040" cy="73152"/>
          </a:xfrm>
          <a:prstGeom prst="rect">
            <a:avLst/>
          </a:prstGeom>
          <a:solidFill>
            <a:srgbClr val="0288D1"/>
          </a:solidFill>
          <a:ln/>
        </p:spPr>
      </p:sp>
      <p:sp>
        <p:nvSpPr>
          <p:cNvPr id="28" name="Text 25"/>
          <p:cNvSpPr/>
          <p:nvPr/>
        </p:nvSpPr>
        <p:spPr>
          <a:xfrm>
            <a:off x="3108960" y="2267712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Sulfate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3108960" y="2542032"/>
            <a:ext cx="2423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Chemical compound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313113" y="4306824"/>
            <a:ext cx="2606040" cy="658368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320040" y="4334256"/>
            <a:ext cx="2606040" cy="73152"/>
          </a:xfrm>
          <a:prstGeom prst="rect">
            <a:avLst/>
          </a:prstGeom>
          <a:solidFill>
            <a:srgbClr val="0288D1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32" name="Text 29"/>
          <p:cNvSpPr/>
          <p:nvPr/>
        </p:nvSpPr>
        <p:spPr>
          <a:xfrm>
            <a:off x="397626" y="4354761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Conductivity</a:t>
            </a:r>
            <a:endParaRPr lang="en-US" sz="1300" dirty="0"/>
          </a:p>
        </p:txBody>
      </p:sp>
      <p:sp>
        <p:nvSpPr>
          <p:cNvPr id="33" name="Text 30"/>
          <p:cNvSpPr/>
          <p:nvPr/>
        </p:nvSpPr>
        <p:spPr>
          <a:xfrm>
            <a:off x="390699" y="4583429"/>
            <a:ext cx="2423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Electrical conductivity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320040" y="2871216"/>
            <a:ext cx="2606040" cy="658368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5" name="Shape 32"/>
          <p:cNvSpPr/>
          <p:nvPr/>
        </p:nvSpPr>
        <p:spPr>
          <a:xfrm>
            <a:off x="320040" y="2871216"/>
            <a:ext cx="2606040" cy="73152"/>
          </a:xfrm>
          <a:prstGeom prst="rect">
            <a:avLst/>
          </a:prstGeom>
          <a:solidFill>
            <a:srgbClr val="0288D1"/>
          </a:solidFill>
          <a:ln/>
        </p:spPr>
      </p:sp>
      <p:sp>
        <p:nvSpPr>
          <p:cNvPr id="36" name="Text 33"/>
          <p:cNvSpPr/>
          <p:nvPr/>
        </p:nvSpPr>
        <p:spPr>
          <a:xfrm>
            <a:off x="429768" y="2980944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Organic Carbon</a:t>
            </a:r>
            <a:endParaRPr lang="en-US" sz="1300" dirty="0"/>
          </a:p>
        </p:txBody>
      </p:sp>
      <p:sp>
        <p:nvSpPr>
          <p:cNvPr id="37" name="Text 34"/>
          <p:cNvSpPr/>
          <p:nvPr/>
        </p:nvSpPr>
        <p:spPr>
          <a:xfrm>
            <a:off x="429768" y="3255264"/>
            <a:ext cx="2423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Carbon compounds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2999232" y="2871216"/>
            <a:ext cx="2606040" cy="658368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9" name="Shape 36"/>
          <p:cNvSpPr/>
          <p:nvPr/>
        </p:nvSpPr>
        <p:spPr>
          <a:xfrm>
            <a:off x="2999232" y="2871216"/>
            <a:ext cx="2606040" cy="73152"/>
          </a:xfrm>
          <a:prstGeom prst="rect">
            <a:avLst/>
          </a:prstGeom>
          <a:solidFill>
            <a:srgbClr val="0288D1"/>
          </a:solidFill>
          <a:ln/>
        </p:spPr>
      </p:sp>
      <p:sp>
        <p:nvSpPr>
          <p:cNvPr id="40" name="Text 37"/>
          <p:cNvSpPr/>
          <p:nvPr/>
        </p:nvSpPr>
        <p:spPr>
          <a:xfrm>
            <a:off x="3108960" y="2980944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Trihalomethanes</a:t>
            </a:r>
            <a:endParaRPr lang="en-US" sz="1300" dirty="0"/>
          </a:p>
        </p:txBody>
      </p:sp>
      <p:sp>
        <p:nvSpPr>
          <p:cNvPr id="41" name="Text 38"/>
          <p:cNvSpPr/>
          <p:nvPr/>
        </p:nvSpPr>
        <p:spPr>
          <a:xfrm>
            <a:off x="3108960" y="3255264"/>
            <a:ext cx="2423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Chlorination by-products</a:t>
            </a:r>
            <a:endParaRPr lang="en-US" sz="1100" dirty="0"/>
          </a:p>
        </p:txBody>
      </p:sp>
      <p:sp>
        <p:nvSpPr>
          <p:cNvPr id="42" name="Shape 39"/>
          <p:cNvSpPr/>
          <p:nvPr/>
        </p:nvSpPr>
        <p:spPr>
          <a:xfrm>
            <a:off x="3000895" y="3637927"/>
            <a:ext cx="2606040" cy="658368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43" name="Shape 40"/>
          <p:cNvSpPr/>
          <p:nvPr/>
        </p:nvSpPr>
        <p:spPr>
          <a:xfrm>
            <a:off x="3007822" y="3630168"/>
            <a:ext cx="2606040" cy="73152"/>
          </a:xfrm>
          <a:prstGeom prst="rect">
            <a:avLst/>
          </a:prstGeom>
          <a:solidFill>
            <a:srgbClr val="0288D1"/>
          </a:solidFill>
          <a:ln/>
        </p:spPr>
      </p:sp>
      <p:sp>
        <p:nvSpPr>
          <p:cNvPr id="44" name="Text 41"/>
          <p:cNvSpPr/>
          <p:nvPr/>
        </p:nvSpPr>
        <p:spPr>
          <a:xfrm>
            <a:off x="3137777" y="3659956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Turbidity</a:t>
            </a:r>
            <a:endParaRPr lang="en-US" sz="1300" dirty="0"/>
          </a:p>
        </p:txBody>
      </p:sp>
      <p:sp>
        <p:nvSpPr>
          <p:cNvPr id="45" name="Text 42"/>
          <p:cNvSpPr/>
          <p:nvPr/>
        </p:nvSpPr>
        <p:spPr>
          <a:xfrm>
            <a:off x="3154680" y="3941064"/>
            <a:ext cx="2423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 clarity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6224849" y="1108641"/>
            <a:ext cx="2651760" cy="3493008"/>
          </a:xfrm>
          <a:prstGeom prst="rect">
            <a:avLst/>
          </a:prstGeom>
          <a:solidFill>
            <a:srgbClr val="0A2342"/>
          </a:solidFill>
          <a:ln/>
          <a:effectLst>
            <a:outerShdw blurRad="1016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47" name="Text 44"/>
          <p:cNvSpPr/>
          <p:nvPr/>
        </p:nvSpPr>
        <p:spPr>
          <a:xfrm>
            <a:off x="6172200" y="1115568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AC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Variable</a:t>
            </a:r>
            <a:endParaRPr lang="en-US" sz="1300" dirty="0"/>
          </a:p>
        </p:txBody>
      </p:sp>
      <p:sp>
        <p:nvSpPr>
          <p:cNvPr id="48" name="Text 45"/>
          <p:cNvSpPr/>
          <p:nvPr/>
        </p:nvSpPr>
        <p:spPr>
          <a:xfrm>
            <a:off x="6172200" y="14630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Potability</a:t>
            </a:r>
            <a:endParaRPr lang="en-US" sz="1200" dirty="0"/>
          </a:p>
        </p:txBody>
      </p:sp>
      <p:sp>
        <p:nvSpPr>
          <p:cNvPr id="49" name="Shape 46"/>
          <p:cNvSpPr/>
          <p:nvPr/>
        </p:nvSpPr>
        <p:spPr>
          <a:xfrm>
            <a:off x="6400800" y="1920240"/>
            <a:ext cx="2194560" cy="74980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50" name="Text 47"/>
          <p:cNvSpPr/>
          <p:nvPr/>
        </p:nvSpPr>
        <p:spPr>
          <a:xfrm>
            <a:off x="6400800" y="1920240"/>
            <a:ext cx="502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000" dirty="0"/>
          </a:p>
        </p:txBody>
      </p:sp>
      <p:sp>
        <p:nvSpPr>
          <p:cNvPr id="51" name="Text 48"/>
          <p:cNvSpPr/>
          <p:nvPr/>
        </p:nvSpPr>
        <p:spPr>
          <a:xfrm>
            <a:off x="6903720" y="1920240"/>
            <a:ext cx="1691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(Potable)</a:t>
            </a:r>
            <a:endParaRPr lang="en-US" sz="1300" dirty="0"/>
          </a:p>
        </p:txBody>
      </p:sp>
      <p:sp>
        <p:nvSpPr>
          <p:cNvPr id="52" name="Shape 49"/>
          <p:cNvSpPr/>
          <p:nvPr/>
        </p:nvSpPr>
        <p:spPr>
          <a:xfrm>
            <a:off x="6400800" y="2834640"/>
            <a:ext cx="2194560" cy="749808"/>
          </a:xfrm>
          <a:prstGeom prst="rect">
            <a:avLst/>
          </a:prstGeom>
          <a:solidFill>
            <a:srgbClr val="C62828"/>
          </a:solidFill>
          <a:ln/>
        </p:spPr>
      </p:sp>
      <p:sp>
        <p:nvSpPr>
          <p:cNvPr id="53" name="Text 50"/>
          <p:cNvSpPr/>
          <p:nvPr/>
        </p:nvSpPr>
        <p:spPr>
          <a:xfrm>
            <a:off x="6400800" y="2834640"/>
            <a:ext cx="502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54" name="Text 51"/>
          <p:cNvSpPr/>
          <p:nvPr/>
        </p:nvSpPr>
        <p:spPr>
          <a:xfrm>
            <a:off x="6903720" y="2834640"/>
            <a:ext cx="1691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SAFE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(Non-Potable)</a:t>
            </a:r>
            <a:endParaRPr lang="en-US" sz="1200" dirty="0"/>
          </a:p>
        </p:txBody>
      </p:sp>
      <p:pic>
        <p:nvPicPr>
          <p:cNvPr id="55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8040" y="3703320"/>
            <a:ext cx="640080" cy="640080"/>
          </a:xfrm>
          <a:prstGeom prst="rect">
            <a:avLst/>
          </a:prstGeom>
        </p:spPr>
      </p:pic>
      <p:sp>
        <p:nvSpPr>
          <p:cNvPr id="56" name="Text 52"/>
          <p:cNvSpPr/>
          <p:nvPr/>
        </p:nvSpPr>
        <p:spPr>
          <a:xfrm>
            <a:off x="6400800" y="37033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E3F2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E3F2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</a:t>
            </a:r>
            <a:endParaRPr lang="en-US" sz="1100"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4FDC0816-6AB8-9570-02C4-F45187AE64EE}"/>
              </a:ext>
            </a:extLst>
          </p:cNvPr>
          <p:cNvSpPr txBox="1"/>
          <p:nvPr/>
        </p:nvSpPr>
        <p:spPr>
          <a:xfrm>
            <a:off x="2957946" y="4545468"/>
            <a:ext cx="55229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Dataset Source: Kaggle – Water Potability Dataset</a:t>
            </a:r>
            <a:endParaRPr lang="en-IN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A234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9144000" cy="64008"/>
          </a:xfrm>
          <a:prstGeom prst="rect">
            <a:avLst/>
          </a:prstGeom>
          <a:solidFill>
            <a:srgbClr val="0288D1"/>
          </a:solidFill>
          <a:ln/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82880"/>
            <a:ext cx="548640" cy="5486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60120" y="73152"/>
            <a:ext cx="71323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Workflow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8229600" y="137160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000" b="1" dirty="0">
                <a:solidFill>
                  <a:srgbClr val="0288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A2342"/>
          </a:solidFill>
          <a:ln/>
        </p:spPr>
      </p:sp>
      <p:sp>
        <p:nvSpPr>
          <p:cNvPr id="8" name="Text 5"/>
          <p:cNvSpPr/>
          <p:nvPr/>
        </p:nvSpPr>
        <p:spPr>
          <a:xfrm>
            <a:off x="274320" y="4892040"/>
            <a:ext cx="859536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3F2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 Quality Analysis &amp; Prediction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1536192" y="2478024"/>
            <a:ext cx="128016" cy="164592"/>
          </a:xfrm>
          <a:prstGeom prst="rect">
            <a:avLst/>
          </a:prstGeom>
          <a:solidFill>
            <a:srgbClr val="0A2342"/>
          </a:solidFill>
          <a:ln/>
        </p:spPr>
      </p:sp>
      <p:sp>
        <p:nvSpPr>
          <p:cNvPr id="10" name="Text 7"/>
          <p:cNvSpPr/>
          <p:nvPr/>
        </p:nvSpPr>
        <p:spPr>
          <a:xfrm>
            <a:off x="1572768" y="2450592"/>
            <a:ext cx="182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74320" y="1828800"/>
            <a:ext cx="1261872" cy="1371600"/>
          </a:xfrm>
          <a:prstGeom prst="rect">
            <a:avLst/>
          </a:prstGeom>
          <a:solidFill>
            <a:srgbClr val="0A2342"/>
          </a:solidFill>
          <a:ln/>
          <a:effectLst>
            <a:outerShdw blurRad="76200" dist="254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1243584" y="1691640"/>
            <a:ext cx="292608" cy="292608"/>
          </a:xfrm>
          <a:prstGeom prst="ellipse">
            <a:avLst/>
          </a:prstGeom>
          <a:solidFill>
            <a:srgbClr val="F9A825"/>
          </a:solidFill>
          <a:ln/>
        </p:spPr>
      </p:sp>
      <p:sp>
        <p:nvSpPr>
          <p:cNvPr id="13" name="Text 10"/>
          <p:cNvSpPr/>
          <p:nvPr/>
        </p:nvSpPr>
        <p:spPr>
          <a:xfrm>
            <a:off x="1243584" y="1691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" y="1993392"/>
            <a:ext cx="548640" cy="54864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329184" y="2578608"/>
            <a:ext cx="1152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329184" y="2880360"/>
            <a:ext cx="1152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water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data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2980944" y="2478024"/>
            <a:ext cx="128016" cy="164592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8" name="Text 14"/>
          <p:cNvSpPr/>
          <p:nvPr/>
        </p:nvSpPr>
        <p:spPr>
          <a:xfrm>
            <a:off x="3017520" y="2450592"/>
            <a:ext cx="182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19" name="Shape 15"/>
          <p:cNvSpPr/>
          <p:nvPr/>
        </p:nvSpPr>
        <p:spPr>
          <a:xfrm>
            <a:off x="1719072" y="1828800"/>
            <a:ext cx="1261872" cy="1371600"/>
          </a:xfrm>
          <a:prstGeom prst="rect">
            <a:avLst/>
          </a:prstGeom>
          <a:solidFill>
            <a:srgbClr val="1565C0"/>
          </a:solidFill>
          <a:ln/>
          <a:effectLst>
            <a:outerShdw blurRad="76200" dist="254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2688336" y="1691640"/>
            <a:ext cx="292608" cy="292608"/>
          </a:xfrm>
          <a:prstGeom prst="ellipse">
            <a:avLst/>
          </a:prstGeom>
          <a:solidFill>
            <a:srgbClr val="F9A825"/>
          </a:solidFill>
          <a:ln/>
        </p:spPr>
      </p:sp>
      <p:sp>
        <p:nvSpPr>
          <p:cNvPr id="21" name="Text 17"/>
          <p:cNvSpPr/>
          <p:nvPr/>
        </p:nvSpPr>
        <p:spPr>
          <a:xfrm>
            <a:off x="2688336" y="1691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75688" y="1993392"/>
            <a:ext cx="548640" cy="548640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1773936" y="2578608"/>
            <a:ext cx="1152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Preprocessing</a:t>
            </a:r>
            <a:endParaRPr lang="en-US" sz="1200" dirty="0"/>
          </a:p>
        </p:txBody>
      </p:sp>
      <p:sp>
        <p:nvSpPr>
          <p:cNvPr id="24" name="Text 19"/>
          <p:cNvSpPr/>
          <p:nvPr/>
        </p:nvSpPr>
        <p:spPr>
          <a:xfrm>
            <a:off x="1773936" y="2880360"/>
            <a:ext cx="1152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&amp;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data</a:t>
            </a:r>
            <a:endParaRPr lang="en-US" sz="1000" dirty="0"/>
          </a:p>
        </p:txBody>
      </p:sp>
      <p:sp>
        <p:nvSpPr>
          <p:cNvPr id="25" name="Shape 20"/>
          <p:cNvSpPr/>
          <p:nvPr/>
        </p:nvSpPr>
        <p:spPr>
          <a:xfrm>
            <a:off x="4425696" y="2478024"/>
            <a:ext cx="128016" cy="164592"/>
          </a:xfrm>
          <a:prstGeom prst="rect">
            <a:avLst/>
          </a:prstGeom>
          <a:solidFill>
            <a:srgbClr val="0288D1"/>
          </a:solidFill>
          <a:ln/>
        </p:spPr>
      </p:sp>
      <p:sp>
        <p:nvSpPr>
          <p:cNvPr id="26" name="Text 21"/>
          <p:cNvSpPr/>
          <p:nvPr/>
        </p:nvSpPr>
        <p:spPr>
          <a:xfrm>
            <a:off x="4462272" y="2450592"/>
            <a:ext cx="182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288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27" name="Shape 22"/>
          <p:cNvSpPr/>
          <p:nvPr/>
        </p:nvSpPr>
        <p:spPr>
          <a:xfrm>
            <a:off x="3163824" y="1828800"/>
            <a:ext cx="1261872" cy="1371600"/>
          </a:xfrm>
          <a:prstGeom prst="rect">
            <a:avLst/>
          </a:prstGeom>
          <a:solidFill>
            <a:srgbClr val="0288D1"/>
          </a:solidFill>
          <a:ln/>
          <a:effectLst>
            <a:outerShdw blurRad="76200" dist="254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8" name="Shape 23"/>
          <p:cNvSpPr/>
          <p:nvPr/>
        </p:nvSpPr>
        <p:spPr>
          <a:xfrm>
            <a:off x="4133088" y="1691640"/>
            <a:ext cx="292608" cy="292608"/>
          </a:xfrm>
          <a:prstGeom prst="ellipse">
            <a:avLst/>
          </a:prstGeom>
          <a:solidFill>
            <a:srgbClr val="F9A825"/>
          </a:solidFill>
          <a:ln/>
        </p:spPr>
      </p:sp>
      <p:sp>
        <p:nvSpPr>
          <p:cNvPr id="29" name="Text 24"/>
          <p:cNvSpPr/>
          <p:nvPr/>
        </p:nvSpPr>
        <p:spPr>
          <a:xfrm>
            <a:off x="4133088" y="1691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pic>
        <p:nvPicPr>
          <p:cNvPr id="30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20440" y="1993392"/>
            <a:ext cx="548640" cy="548640"/>
          </a:xfrm>
          <a:prstGeom prst="rect">
            <a:avLst/>
          </a:prstGeom>
        </p:spPr>
      </p:pic>
      <p:sp>
        <p:nvSpPr>
          <p:cNvPr id="31" name="Text 25"/>
          <p:cNvSpPr/>
          <p:nvPr/>
        </p:nvSpPr>
        <p:spPr>
          <a:xfrm>
            <a:off x="3218688" y="2578608"/>
            <a:ext cx="1152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</a:t>
            </a:r>
            <a:endParaRPr lang="en-US" sz="1200" dirty="0"/>
          </a:p>
        </p:txBody>
      </p:sp>
      <p:sp>
        <p:nvSpPr>
          <p:cNvPr id="32" name="Text 26"/>
          <p:cNvSpPr/>
          <p:nvPr/>
        </p:nvSpPr>
        <p:spPr>
          <a:xfrm>
            <a:off x="3218688" y="2880360"/>
            <a:ext cx="1152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Visualize &amp;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</a:t>
            </a:r>
            <a:endParaRPr lang="en-US" sz="1000" dirty="0"/>
          </a:p>
        </p:txBody>
      </p:sp>
      <p:sp>
        <p:nvSpPr>
          <p:cNvPr id="33" name="Shape 27"/>
          <p:cNvSpPr/>
          <p:nvPr/>
        </p:nvSpPr>
        <p:spPr>
          <a:xfrm>
            <a:off x="5870448" y="2478024"/>
            <a:ext cx="128016" cy="164592"/>
          </a:xfrm>
          <a:prstGeom prst="rect">
            <a:avLst/>
          </a:prstGeom>
          <a:solidFill>
            <a:srgbClr val="00ACC1"/>
          </a:solidFill>
          <a:ln/>
        </p:spPr>
      </p:sp>
      <p:sp>
        <p:nvSpPr>
          <p:cNvPr id="34" name="Text 28"/>
          <p:cNvSpPr/>
          <p:nvPr/>
        </p:nvSpPr>
        <p:spPr>
          <a:xfrm>
            <a:off x="5907024" y="2450592"/>
            <a:ext cx="182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AC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35" name="Shape 29"/>
          <p:cNvSpPr/>
          <p:nvPr/>
        </p:nvSpPr>
        <p:spPr>
          <a:xfrm>
            <a:off x="4608576" y="1828800"/>
            <a:ext cx="1261872" cy="1371600"/>
          </a:xfrm>
          <a:prstGeom prst="rect">
            <a:avLst/>
          </a:prstGeom>
          <a:solidFill>
            <a:srgbClr val="00ACC1"/>
          </a:solidFill>
          <a:ln/>
          <a:effectLst>
            <a:outerShdw blurRad="76200" dist="254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36" name="Shape 30"/>
          <p:cNvSpPr/>
          <p:nvPr/>
        </p:nvSpPr>
        <p:spPr>
          <a:xfrm>
            <a:off x="5577840" y="1691640"/>
            <a:ext cx="292608" cy="292608"/>
          </a:xfrm>
          <a:prstGeom prst="ellipse">
            <a:avLst/>
          </a:prstGeom>
          <a:solidFill>
            <a:srgbClr val="F9A825"/>
          </a:solidFill>
          <a:ln/>
        </p:spPr>
      </p:sp>
      <p:sp>
        <p:nvSpPr>
          <p:cNvPr id="37" name="Text 31"/>
          <p:cNvSpPr/>
          <p:nvPr/>
        </p:nvSpPr>
        <p:spPr>
          <a:xfrm>
            <a:off x="5577840" y="1691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pic>
        <p:nvPicPr>
          <p:cNvPr id="38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65192" y="1993392"/>
            <a:ext cx="548640" cy="548640"/>
          </a:xfrm>
          <a:prstGeom prst="rect">
            <a:avLst/>
          </a:prstGeom>
        </p:spPr>
      </p:pic>
      <p:sp>
        <p:nvSpPr>
          <p:cNvPr id="39" name="Text 32"/>
          <p:cNvSpPr/>
          <p:nvPr/>
        </p:nvSpPr>
        <p:spPr>
          <a:xfrm>
            <a:off x="4663440" y="2578608"/>
            <a:ext cx="1152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Training</a:t>
            </a:r>
            <a:endParaRPr lang="en-US" sz="1200" dirty="0"/>
          </a:p>
        </p:txBody>
      </p:sp>
      <p:sp>
        <p:nvSpPr>
          <p:cNvPr id="40" name="Text 33"/>
          <p:cNvSpPr/>
          <p:nvPr/>
        </p:nvSpPr>
        <p:spPr>
          <a:xfrm>
            <a:off x="4663440" y="2880360"/>
            <a:ext cx="1152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ML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</a:t>
            </a:r>
            <a:endParaRPr lang="en-US" sz="1000" dirty="0"/>
          </a:p>
        </p:txBody>
      </p:sp>
      <p:sp>
        <p:nvSpPr>
          <p:cNvPr id="41" name="Shape 34"/>
          <p:cNvSpPr/>
          <p:nvPr/>
        </p:nvSpPr>
        <p:spPr>
          <a:xfrm>
            <a:off x="7315200" y="2478024"/>
            <a:ext cx="128016" cy="164592"/>
          </a:xfrm>
          <a:prstGeom prst="rect">
            <a:avLst/>
          </a:prstGeom>
          <a:solidFill>
            <a:srgbClr val="00897B"/>
          </a:solidFill>
          <a:ln/>
        </p:spPr>
      </p:sp>
      <p:sp>
        <p:nvSpPr>
          <p:cNvPr id="42" name="Text 35"/>
          <p:cNvSpPr/>
          <p:nvPr/>
        </p:nvSpPr>
        <p:spPr>
          <a:xfrm>
            <a:off x="7351776" y="2450592"/>
            <a:ext cx="182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43" name="Shape 36"/>
          <p:cNvSpPr/>
          <p:nvPr/>
        </p:nvSpPr>
        <p:spPr>
          <a:xfrm>
            <a:off x="6053328" y="1828800"/>
            <a:ext cx="1261872" cy="1371600"/>
          </a:xfrm>
          <a:prstGeom prst="rect">
            <a:avLst/>
          </a:prstGeom>
          <a:solidFill>
            <a:srgbClr val="00897B"/>
          </a:solidFill>
          <a:ln/>
          <a:effectLst>
            <a:outerShdw blurRad="76200" dist="254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4" name="Shape 37"/>
          <p:cNvSpPr/>
          <p:nvPr/>
        </p:nvSpPr>
        <p:spPr>
          <a:xfrm>
            <a:off x="7022592" y="1691640"/>
            <a:ext cx="292608" cy="292608"/>
          </a:xfrm>
          <a:prstGeom prst="ellipse">
            <a:avLst/>
          </a:prstGeom>
          <a:solidFill>
            <a:srgbClr val="F9A825"/>
          </a:solidFill>
          <a:ln/>
        </p:spPr>
      </p:sp>
      <p:sp>
        <p:nvSpPr>
          <p:cNvPr id="45" name="Text 38"/>
          <p:cNvSpPr/>
          <p:nvPr/>
        </p:nvSpPr>
        <p:spPr>
          <a:xfrm>
            <a:off x="7022592" y="1691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pic>
        <p:nvPicPr>
          <p:cNvPr id="46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9944" y="1993392"/>
            <a:ext cx="548640" cy="548640"/>
          </a:xfrm>
          <a:prstGeom prst="rect">
            <a:avLst/>
          </a:prstGeom>
        </p:spPr>
      </p:pic>
      <p:sp>
        <p:nvSpPr>
          <p:cNvPr id="47" name="Text 39"/>
          <p:cNvSpPr/>
          <p:nvPr/>
        </p:nvSpPr>
        <p:spPr>
          <a:xfrm>
            <a:off x="6108192" y="2578608"/>
            <a:ext cx="1152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</a:t>
            </a:r>
            <a:endParaRPr lang="en-US" sz="1200" dirty="0"/>
          </a:p>
        </p:txBody>
      </p:sp>
      <p:sp>
        <p:nvSpPr>
          <p:cNvPr id="48" name="Text 40"/>
          <p:cNvSpPr/>
          <p:nvPr/>
        </p:nvSpPr>
        <p:spPr>
          <a:xfrm>
            <a:off x="6108192" y="2880360"/>
            <a:ext cx="1152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&amp;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</a:t>
            </a:r>
            <a:endParaRPr lang="en-US" sz="1000" dirty="0"/>
          </a:p>
        </p:txBody>
      </p:sp>
      <p:sp>
        <p:nvSpPr>
          <p:cNvPr id="49" name="Shape 41"/>
          <p:cNvSpPr/>
          <p:nvPr/>
        </p:nvSpPr>
        <p:spPr>
          <a:xfrm>
            <a:off x="7498080" y="1828800"/>
            <a:ext cx="1261872" cy="1371600"/>
          </a:xfrm>
          <a:prstGeom prst="rect">
            <a:avLst/>
          </a:prstGeom>
          <a:solidFill>
            <a:srgbClr val="2E7D32"/>
          </a:solidFill>
          <a:ln/>
          <a:effectLst>
            <a:outerShdw blurRad="76200" dist="254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0" name="Shape 42"/>
          <p:cNvSpPr/>
          <p:nvPr/>
        </p:nvSpPr>
        <p:spPr>
          <a:xfrm>
            <a:off x="8467344" y="1691640"/>
            <a:ext cx="292608" cy="292608"/>
          </a:xfrm>
          <a:prstGeom prst="ellipse">
            <a:avLst/>
          </a:prstGeom>
          <a:solidFill>
            <a:srgbClr val="F9A825"/>
          </a:solidFill>
          <a:ln/>
        </p:spPr>
      </p:sp>
      <p:sp>
        <p:nvSpPr>
          <p:cNvPr id="51" name="Text 43"/>
          <p:cNvSpPr/>
          <p:nvPr/>
        </p:nvSpPr>
        <p:spPr>
          <a:xfrm>
            <a:off x="8467344" y="1691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pic>
        <p:nvPicPr>
          <p:cNvPr id="52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54696" y="1993392"/>
            <a:ext cx="548640" cy="548640"/>
          </a:xfrm>
          <a:prstGeom prst="rect">
            <a:avLst/>
          </a:prstGeom>
        </p:spPr>
      </p:pic>
      <p:sp>
        <p:nvSpPr>
          <p:cNvPr id="53" name="Text 44"/>
          <p:cNvSpPr/>
          <p:nvPr/>
        </p:nvSpPr>
        <p:spPr>
          <a:xfrm>
            <a:off x="7552944" y="2578608"/>
            <a:ext cx="1152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Prediction</a:t>
            </a:r>
            <a:endParaRPr lang="en-US" sz="1200" dirty="0"/>
          </a:p>
        </p:txBody>
      </p:sp>
      <p:sp>
        <p:nvSpPr>
          <p:cNvPr id="54" name="Text 45"/>
          <p:cNvSpPr/>
          <p:nvPr/>
        </p:nvSpPr>
        <p:spPr>
          <a:xfrm>
            <a:off x="7552944" y="2880360"/>
            <a:ext cx="1152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</a:t>
            </a:r>
            <a:endParaRPr lang="en-US" sz="1000" dirty="0"/>
          </a:p>
        </p:txBody>
      </p:sp>
      <p:sp>
        <p:nvSpPr>
          <p:cNvPr id="55" name="Shape 46"/>
          <p:cNvSpPr/>
          <p:nvPr/>
        </p:nvSpPr>
        <p:spPr>
          <a:xfrm>
            <a:off x="1536192" y="2514600"/>
            <a:ext cx="7040880" cy="50292"/>
          </a:xfrm>
          <a:prstGeom prst="rect">
            <a:avLst/>
          </a:prstGeom>
          <a:solidFill>
            <a:srgbClr val="ECEFF1"/>
          </a:solidFill>
          <a:ln/>
        </p:spPr>
      </p:sp>
      <p:sp>
        <p:nvSpPr>
          <p:cNvPr id="56" name="Text 47"/>
          <p:cNvSpPr/>
          <p:nvPr/>
        </p:nvSpPr>
        <p:spPr>
          <a:xfrm>
            <a:off x="320040" y="3401568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pipeline from raw data to potability prediction</a:t>
            </a:r>
            <a:endParaRPr lang="en-US" sz="1300" dirty="0"/>
          </a:p>
        </p:txBody>
      </p:sp>
      <p:sp>
        <p:nvSpPr>
          <p:cNvPr id="57" name="Shape 48"/>
          <p:cNvSpPr/>
          <p:nvPr/>
        </p:nvSpPr>
        <p:spPr>
          <a:xfrm>
            <a:off x="274320" y="3794760"/>
            <a:ext cx="1261872" cy="74980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58" name="Text 49"/>
          <p:cNvSpPr/>
          <p:nvPr/>
        </p:nvSpPr>
        <p:spPr>
          <a:xfrm>
            <a:off x="274320" y="3794760"/>
            <a:ext cx="12618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 Potability Dataset</a:t>
            </a:r>
            <a:endParaRPr lang="en-US" sz="1000" dirty="0"/>
          </a:p>
        </p:txBody>
      </p:sp>
      <p:sp>
        <p:nvSpPr>
          <p:cNvPr id="59" name="Shape 50"/>
          <p:cNvSpPr/>
          <p:nvPr/>
        </p:nvSpPr>
        <p:spPr>
          <a:xfrm>
            <a:off x="1719072" y="3794760"/>
            <a:ext cx="1261872" cy="74980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60" name="Text 51"/>
          <p:cNvSpPr/>
          <p:nvPr/>
        </p:nvSpPr>
        <p:spPr>
          <a:xfrm>
            <a:off x="1719072" y="3794760"/>
            <a:ext cx="12618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Values &amp;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Scaling</a:t>
            </a:r>
            <a:endParaRPr lang="en-US" sz="1000" dirty="0"/>
          </a:p>
        </p:txBody>
      </p:sp>
      <p:sp>
        <p:nvSpPr>
          <p:cNvPr id="61" name="Shape 52"/>
          <p:cNvSpPr/>
          <p:nvPr/>
        </p:nvSpPr>
        <p:spPr>
          <a:xfrm>
            <a:off x="3163824" y="3794760"/>
            <a:ext cx="1261872" cy="74980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62" name="Text 53"/>
          <p:cNvSpPr/>
          <p:nvPr/>
        </p:nvSpPr>
        <p:spPr>
          <a:xfrm>
            <a:off x="3163824" y="3794760"/>
            <a:ext cx="12618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Plots &amp;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Heatmaps</a:t>
            </a:r>
            <a:endParaRPr lang="en-US" sz="1000" dirty="0"/>
          </a:p>
        </p:txBody>
      </p:sp>
      <p:sp>
        <p:nvSpPr>
          <p:cNvPr id="63" name="Shape 54"/>
          <p:cNvSpPr/>
          <p:nvPr/>
        </p:nvSpPr>
        <p:spPr>
          <a:xfrm>
            <a:off x="4608576" y="3794760"/>
            <a:ext cx="1261872" cy="74980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64" name="Text 55"/>
          <p:cNvSpPr/>
          <p:nvPr/>
        </p:nvSpPr>
        <p:spPr>
          <a:xfrm>
            <a:off x="4608576" y="3794760"/>
            <a:ext cx="12618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LR, DT,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</a:t>
            </a:r>
            <a:endParaRPr lang="en-US" sz="1000" dirty="0"/>
          </a:p>
        </p:txBody>
      </p:sp>
      <p:sp>
        <p:nvSpPr>
          <p:cNvPr id="65" name="Shape 56"/>
          <p:cNvSpPr/>
          <p:nvPr/>
        </p:nvSpPr>
        <p:spPr>
          <a:xfrm>
            <a:off x="6053328" y="3794760"/>
            <a:ext cx="1261872" cy="74980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66" name="Text 57"/>
          <p:cNvSpPr/>
          <p:nvPr/>
        </p:nvSpPr>
        <p:spPr>
          <a:xfrm>
            <a:off x="6053328" y="3794760"/>
            <a:ext cx="12618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Accuracy,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Precision,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000" dirty="0"/>
          </a:p>
        </p:txBody>
      </p:sp>
      <p:sp>
        <p:nvSpPr>
          <p:cNvPr id="67" name="Shape 58"/>
          <p:cNvSpPr/>
          <p:nvPr/>
        </p:nvSpPr>
        <p:spPr>
          <a:xfrm>
            <a:off x="7498080" y="3794760"/>
            <a:ext cx="1261872" cy="74980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68" name="Text 59"/>
          <p:cNvSpPr/>
          <p:nvPr/>
        </p:nvSpPr>
        <p:spPr>
          <a:xfrm>
            <a:off x="7498080" y="3794760"/>
            <a:ext cx="12618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/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Safe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A234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9144000" cy="64008"/>
          </a:xfrm>
          <a:prstGeom prst="rect">
            <a:avLst/>
          </a:prstGeom>
          <a:solidFill>
            <a:srgbClr val="0288D1"/>
          </a:solidFill>
          <a:ln/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82880"/>
            <a:ext cx="548640" cy="5486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60120" y="73152"/>
            <a:ext cx="71323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Preprocessing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8229600" y="137160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000" b="1" dirty="0">
                <a:solidFill>
                  <a:srgbClr val="0288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A2342"/>
          </a:solidFill>
          <a:ln/>
        </p:spPr>
      </p:sp>
      <p:sp>
        <p:nvSpPr>
          <p:cNvPr id="8" name="Text 5"/>
          <p:cNvSpPr/>
          <p:nvPr/>
        </p:nvSpPr>
        <p:spPr>
          <a:xfrm>
            <a:off x="274320" y="4892040"/>
            <a:ext cx="859536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3F2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 Quality Analysis &amp; Prediction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320040" y="1188720"/>
            <a:ext cx="8503920" cy="1024128"/>
          </a:xfrm>
          <a:prstGeom prst="rect">
            <a:avLst/>
          </a:prstGeom>
          <a:solidFill>
            <a:srgbClr val="FFEBEE"/>
          </a:solidFill>
          <a:ln/>
          <a:effectLst>
            <a:outerShdw blurRad="50800" dist="127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20040" y="1188720"/>
            <a:ext cx="128016" cy="1024128"/>
          </a:xfrm>
          <a:prstGeom prst="rect">
            <a:avLst/>
          </a:prstGeom>
          <a:solidFill>
            <a:srgbClr val="E53935"/>
          </a:solidFill>
          <a:ln/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52" y="1444752"/>
            <a:ext cx="512064" cy="51206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170432" y="1280160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Missing Value Handling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1170432" y="1645920"/>
            <a:ext cx="7406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null/NaN values in features   •   Impute using mean/median strategy   •   Ensures complete, clean input data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320040" y="2359152"/>
            <a:ext cx="8503920" cy="1024128"/>
          </a:xfrm>
          <a:prstGeom prst="rect">
            <a:avLst/>
          </a:prstGeom>
          <a:solidFill>
            <a:srgbClr val="E3F2FD"/>
          </a:solidFill>
          <a:ln/>
          <a:effectLst>
            <a:outerShdw blurRad="50800" dist="127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320040" y="2359152"/>
            <a:ext cx="128016" cy="1024128"/>
          </a:xfrm>
          <a:prstGeom prst="rect">
            <a:avLst/>
          </a:prstGeom>
          <a:solidFill>
            <a:srgbClr val="1565C0"/>
          </a:solidFill>
          <a:ln/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2615184"/>
            <a:ext cx="512064" cy="51206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170432" y="2450592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Feature Scaling</a:t>
            </a:r>
            <a:endParaRPr lang="en-US" sz="1500" dirty="0"/>
          </a:p>
        </p:txBody>
      </p:sp>
      <p:sp>
        <p:nvSpPr>
          <p:cNvPr id="18" name="Text 13"/>
          <p:cNvSpPr/>
          <p:nvPr/>
        </p:nvSpPr>
        <p:spPr>
          <a:xfrm>
            <a:off x="1170432" y="2816352"/>
            <a:ext cx="7406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Normalize all numeric features   •   StandardScaler: zero mean, unit variance   •   Prevents bias from large-range features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320040" y="3529584"/>
            <a:ext cx="8503920" cy="1024128"/>
          </a:xfrm>
          <a:prstGeom prst="rect">
            <a:avLst/>
          </a:prstGeom>
          <a:solidFill>
            <a:srgbClr val="E8F5E9"/>
          </a:solidFill>
          <a:ln/>
          <a:effectLst>
            <a:outerShdw blurRad="50800" dist="127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320040" y="3529584"/>
            <a:ext cx="128016" cy="1024128"/>
          </a:xfrm>
          <a:prstGeom prst="rect">
            <a:avLst/>
          </a:prstGeom>
          <a:solidFill>
            <a:srgbClr val="2E7D32"/>
          </a:solidFill>
          <a:ln/>
        </p:spPr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0352" y="3785616"/>
            <a:ext cx="512064" cy="512064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170432" y="3621024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Data Cleaning</a:t>
            </a:r>
            <a:endParaRPr lang="en-US" sz="1500" dirty="0"/>
          </a:p>
        </p:txBody>
      </p:sp>
      <p:sp>
        <p:nvSpPr>
          <p:cNvPr id="23" name="Text 17"/>
          <p:cNvSpPr/>
          <p:nvPr/>
        </p:nvSpPr>
        <p:spPr>
          <a:xfrm>
            <a:off x="1170432" y="3986784"/>
            <a:ext cx="7406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duplicate or corrupted rows   •   Validate feature ranges and data types   •   Prepare final dataset for ML models</a:t>
            </a:r>
            <a:endParaRPr lang="en-US" sz="1200" dirty="0"/>
          </a:p>
        </p:txBody>
      </p:sp>
      <p:sp>
        <p:nvSpPr>
          <p:cNvPr id="24" name="Shape 18"/>
          <p:cNvSpPr/>
          <p:nvPr/>
        </p:nvSpPr>
        <p:spPr>
          <a:xfrm>
            <a:off x="320040" y="4572000"/>
            <a:ext cx="8503920" cy="256032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25" name="Text 19"/>
          <p:cNvSpPr/>
          <p:nvPr/>
        </p:nvSpPr>
        <p:spPr>
          <a:xfrm>
            <a:off x="320040" y="4572000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i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and well-scaled data directly impacts the accuracy and reliability of ML models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A234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9144000" cy="64008"/>
          </a:xfrm>
          <a:prstGeom prst="rect">
            <a:avLst/>
          </a:prstGeom>
          <a:solidFill>
            <a:srgbClr val="0288D1"/>
          </a:solidFill>
          <a:ln/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82880"/>
            <a:ext cx="548640" cy="5486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60120" y="73152"/>
            <a:ext cx="71323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Exploratory Data Analysis (EDA)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8229600" y="137160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000" b="1" dirty="0">
                <a:solidFill>
                  <a:srgbClr val="0288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A2342"/>
          </a:solidFill>
          <a:ln/>
        </p:spPr>
      </p:sp>
      <p:sp>
        <p:nvSpPr>
          <p:cNvPr id="8" name="Text 5"/>
          <p:cNvSpPr/>
          <p:nvPr/>
        </p:nvSpPr>
        <p:spPr>
          <a:xfrm>
            <a:off x="274320" y="4892040"/>
            <a:ext cx="859536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3F2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 Quality Analysis &amp; Prediction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320040" y="1188720"/>
            <a:ext cx="8503920" cy="1005840"/>
          </a:xfrm>
          <a:prstGeom prst="rect">
            <a:avLst/>
          </a:prstGeom>
          <a:solidFill>
            <a:srgbClr val="E3F2FD"/>
          </a:solidFill>
          <a:ln/>
          <a:effectLst>
            <a:outerShdw blurRad="50800" dist="127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20040" y="1188720"/>
            <a:ext cx="128016" cy="1005840"/>
          </a:xfrm>
          <a:prstGeom prst="rect">
            <a:avLst/>
          </a:prstGeom>
          <a:solidFill>
            <a:srgbClr val="1565C0"/>
          </a:solidFill>
          <a:ln/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52" y="1435608"/>
            <a:ext cx="512064" cy="51206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170432" y="1280160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 Plots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1170432" y="1645920"/>
            <a:ext cx="7406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Visualize how each feature (pH, turbidity, etc.) is distributed across safe and unsafe water samples using histograms and KDE plots.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320040" y="2350008"/>
            <a:ext cx="8503920" cy="1005840"/>
          </a:xfrm>
          <a:prstGeom prst="rect">
            <a:avLst/>
          </a:prstGeom>
          <a:solidFill>
            <a:srgbClr val="F3E5F5"/>
          </a:solidFill>
          <a:ln/>
          <a:effectLst>
            <a:outerShdw blurRad="50800" dist="127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320040" y="2350008"/>
            <a:ext cx="128016" cy="1005840"/>
          </a:xfrm>
          <a:prstGeom prst="rect">
            <a:avLst/>
          </a:prstGeom>
          <a:solidFill>
            <a:srgbClr val="7B1FA2"/>
          </a:solidFill>
          <a:ln/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2596896"/>
            <a:ext cx="512064" cy="51206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170432" y="2441448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Correlation Heatmap</a:t>
            </a:r>
            <a:endParaRPr lang="en-US" sz="1500" dirty="0"/>
          </a:p>
        </p:txBody>
      </p:sp>
      <p:sp>
        <p:nvSpPr>
          <p:cNvPr id="18" name="Text 13"/>
          <p:cNvSpPr/>
          <p:nvPr/>
        </p:nvSpPr>
        <p:spPr>
          <a:xfrm>
            <a:off x="1170432" y="2807208"/>
            <a:ext cx="7406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strong relationships and multicollinearity between features. Helps in feature selection and understanding parameter interactions.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320040" y="3511296"/>
            <a:ext cx="8503920" cy="1005840"/>
          </a:xfrm>
          <a:prstGeom prst="rect">
            <a:avLst/>
          </a:prstGeom>
          <a:solidFill>
            <a:srgbClr val="E8F5E9"/>
          </a:solidFill>
          <a:ln/>
          <a:effectLst>
            <a:outerShdw blurRad="50800" dist="127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320040" y="3511296"/>
            <a:ext cx="128016" cy="1005840"/>
          </a:xfrm>
          <a:prstGeom prst="rect">
            <a:avLst/>
          </a:prstGeom>
          <a:solidFill>
            <a:srgbClr val="2E7D32"/>
          </a:solidFill>
          <a:ln/>
        </p:spPr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0352" y="3758184"/>
            <a:ext cx="512064" cy="512064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170432" y="3602736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Insights</a:t>
            </a:r>
            <a:endParaRPr lang="en-US" sz="1500" dirty="0"/>
          </a:p>
        </p:txBody>
      </p:sp>
      <p:sp>
        <p:nvSpPr>
          <p:cNvPr id="23" name="Text 17"/>
          <p:cNvSpPr/>
          <p:nvPr/>
        </p:nvSpPr>
        <p:spPr>
          <a:xfrm>
            <a:off x="1170432" y="3968496"/>
            <a:ext cx="7406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 outliers, skewness, and class imbalances. Understand which features have the most influence on water potability prediction.</a:t>
            </a:r>
            <a:endParaRPr lang="en-US" sz="1200" dirty="0"/>
          </a:p>
        </p:txBody>
      </p:sp>
      <p:sp>
        <p:nvSpPr>
          <p:cNvPr id="24" name="Shape 18"/>
          <p:cNvSpPr/>
          <p:nvPr/>
        </p:nvSpPr>
        <p:spPr>
          <a:xfrm>
            <a:off x="320040" y="4572000"/>
            <a:ext cx="8503920" cy="256032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25" name="Text 19"/>
          <p:cNvSpPr/>
          <p:nvPr/>
        </p:nvSpPr>
        <p:spPr>
          <a:xfrm>
            <a:off x="320040" y="4572000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00" b="1" i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 helps us understand the data before modeling — Proper data understanding improves model performance.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A234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9144000" cy="64008"/>
          </a:xfrm>
          <a:prstGeom prst="rect">
            <a:avLst/>
          </a:prstGeom>
          <a:solidFill>
            <a:srgbClr val="0288D1"/>
          </a:solidFill>
          <a:ln/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82880"/>
            <a:ext cx="548640" cy="5486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60120" y="73152"/>
            <a:ext cx="71323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Training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8229600" y="137160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000" b="1" dirty="0">
                <a:solidFill>
                  <a:srgbClr val="0288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A2342"/>
          </a:solidFill>
          <a:ln/>
        </p:spPr>
      </p:sp>
      <p:sp>
        <p:nvSpPr>
          <p:cNvPr id="8" name="Text 5"/>
          <p:cNvSpPr/>
          <p:nvPr/>
        </p:nvSpPr>
        <p:spPr>
          <a:xfrm>
            <a:off x="274320" y="4892040"/>
            <a:ext cx="859536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3F2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 Quality Analysis &amp; Prediction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320040" y="1170432"/>
            <a:ext cx="2651760" cy="331012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20040" y="1170432"/>
            <a:ext cx="2651760" cy="804672"/>
          </a:xfrm>
          <a:prstGeom prst="rect">
            <a:avLst/>
          </a:prstGeom>
          <a:solidFill>
            <a:srgbClr val="0A2342"/>
          </a:solidFill>
          <a:ln/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234440"/>
            <a:ext cx="548640" cy="54864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069848" y="118872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 Regression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457200" y="2029968"/>
            <a:ext cx="2377440" cy="256032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14" name="Text 10"/>
          <p:cNvSpPr/>
          <p:nvPr/>
        </p:nvSpPr>
        <p:spPr>
          <a:xfrm>
            <a:off x="457200" y="202996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Model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457200" y="2359152"/>
            <a:ext cx="242316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linear classifier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and interpretable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for comparison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well with scaled features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3154680" y="1170432"/>
            <a:ext cx="2651760" cy="331012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3154680" y="1170432"/>
            <a:ext cx="2651760" cy="804672"/>
          </a:xfrm>
          <a:prstGeom prst="rect">
            <a:avLst/>
          </a:prstGeom>
          <a:solidFill>
            <a:srgbClr val="1565C0"/>
          </a:solidFill>
          <a:ln/>
        </p:spPr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91840" y="1234440"/>
            <a:ext cx="548640" cy="54864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3904488" y="118872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Tree</a:t>
            </a:r>
            <a:endParaRPr lang="en-US" sz="1300" dirty="0"/>
          </a:p>
        </p:txBody>
      </p:sp>
      <p:sp>
        <p:nvSpPr>
          <p:cNvPr id="20" name="Shape 15"/>
          <p:cNvSpPr/>
          <p:nvPr/>
        </p:nvSpPr>
        <p:spPr>
          <a:xfrm>
            <a:off x="3291840" y="2029968"/>
            <a:ext cx="2377440" cy="256032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21" name="Text 16"/>
          <p:cNvSpPr/>
          <p:nvPr/>
        </p:nvSpPr>
        <p:spPr>
          <a:xfrm>
            <a:off x="3291840" y="202996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Rule-based Model</a:t>
            </a:r>
            <a:endParaRPr lang="en-US" sz="1100" dirty="0"/>
          </a:p>
        </p:txBody>
      </p:sp>
      <p:sp>
        <p:nvSpPr>
          <p:cNvPr id="22" name="Text 17"/>
          <p:cNvSpPr/>
          <p:nvPr/>
        </p:nvSpPr>
        <p:spPr>
          <a:xfrm>
            <a:off x="3291840" y="2359152"/>
            <a:ext cx="242316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Non-linear decision boundaries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Easy to visualize and explain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Handles mixed feature types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Prone to overfitting (controlled)</a:t>
            </a:r>
            <a:endParaRPr lang="en-US" sz="1200" dirty="0"/>
          </a:p>
        </p:txBody>
      </p:sp>
      <p:sp>
        <p:nvSpPr>
          <p:cNvPr id="23" name="Shape 18"/>
          <p:cNvSpPr/>
          <p:nvPr/>
        </p:nvSpPr>
        <p:spPr>
          <a:xfrm>
            <a:off x="5989320" y="1170432"/>
            <a:ext cx="2651760" cy="331012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5989320" y="1170432"/>
            <a:ext cx="2651760" cy="804672"/>
          </a:xfrm>
          <a:prstGeom prst="rect">
            <a:avLst/>
          </a:prstGeom>
          <a:solidFill>
            <a:srgbClr val="00695C"/>
          </a:solidFill>
          <a:ln/>
        </p:spPr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1234440"/>
            <a:ext cx="548640" cy="548640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6739128" y="118872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</a:t>
            </a:r>
            <a:endParaRPr lang="en-US" sz="1300" dirty="0"/>
          </a:p>
        </p:txBody>
      </p:sp>
      <p:sp>
        <p:nvSpPr>
          <p:cNvPr id="27" name="Shape 21"/>
          <p:cNvSpPr/>
          <p:nvPr/>
        </p:nvSpPr>
        <p:spPr>
          <a:xfrm>
            <a:off x="6126480" y="2029968"/>
            <a:ext cx="2377440" cy="256032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28" name="Text 22"/>
          <p:cNvSpPr/>
          <p:nvPr/>
        </p:nvSpPr>
        <p:spPr>
          <a:xfrm>
            <a:off x="6126480" y="202996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Ensemble Model ⭐</a:t>
            </a:r>
            <a:endParaRPr lang="en-US" sz="1100" dirty="0"/>
          </a:p>
        </p:txBody>
      </p:sp>
      <p:sp>
        <p:nvSpPr>
          <p:cNvPr id="29" name="Text 23"/>
          <p:cNvSpPr/>
          <p:nvPr/>
        </p:nvSpPr>
        <p:spPr>
          <a:xfrm>
            <a:off x="6126480" y="2359152"/>
            <a:ext cx="242316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Ensemble of 100+ decision trees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Reduces overfitting via bagging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importance analysis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/>
              <a:t>Expected to perform well based on ensemble learning</a:t>
            </a:r>
          </a:p>
        </p:txBody>
      </p:sp>
      <p:sp>
        <p:nvSpPr>
          <p:cNvPr id="30" name="Shape 24"/>
          <p:cNvSpPr/>
          <p:nvPr/>
        </p:nvSpPr>
        <p:spPr>
          <a:xfrm>
            <a:off x="320040" y="4572000"/>
            <a:ext cx="8503920" cy="256032"/>
          </a:xfrm>
          <a:prstGeom prst="rect">
            <a:avLst/>
          </a:prstGeom>
          <a:solidFill>
            <a:srgbClr val="FFF8E1"/>
          </a:solidFill>
          <a:ln/>
        </p:spPr>
      </p:sp>
      <p:sp>
        <p:nvSpPr>
          <p:cNvPr id="31" name="Text 25"/>
          <p:cNvSpPr/>
          <p:nvPr/>
        </p:nvSpPr>
        <p:spPr>
          <a:xfrm>
            <a:off x="320040" y="4572000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57F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🔄  Future upgrade: SVM and XGBoost for improved accuracy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F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A234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9144000" cy="64008"/>
          </a:xfrm>
          <a:prstGeom prst="rect">
            <a:avLst/>
          </a:prstGeom>
          <a:solidFill>
            <a:srgbClr val="0288D1"/>
          </a:solidFill>
          <a:ln/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82880"/>
            <a:ext cx="548640" cy="5486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60120" y="73152"/>
            <a:ext cx="71323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Evaluation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8229600" y="137160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000" b="1" dirty="0">
                <a:solidFill>
                  <a:srgbClr val="0288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A2342"/>
          </a:solidFill>
          <a:ln/>
        </p:spPr>
      </p:sp>
      <p:sp>
        <p:nvSpPr>
          <p:cNvPr id="8" name="Text 5"/>
          <p:cNvSpPr/>
          <p:nvPr/>
        </p:nvSpPr>
        <p:spPr>
          <a:xfrm>
            <a:off x="320040" y="4946904"/>
            <a:ext cx="859536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3F2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 Quality Analysis &amp; Prediction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320040" y="1170432"/>
            <a:ext cx="2633472" cy="1993392"/>
          </a:xfrm>
          <a:prstGeom prst="rect">
            <a:avLst/>
          </a:prstGeom>
          <a:solidFill>
            <a:srgbClr val="E8F5E9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20040" y="1170432"/>
            <a:ext cx="2633472" cy="9144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1" name="Shape 8"/>
          <p:cNvSpPr/>
          <p:nvPr/>
        </p:nvSpPr>
        <p:spPr>
          <a:xfrm>
            <a:off x="1289304" y="1335024"/>
            <a:ext cx="694944" cy="694944"/>
          </a:xfrm>
          <a:prstGeom prst="ellipse">
            <a:avLst/>
          </a:prstGeom>
          <a:solidFill>
            <a:srgbClr val="2E7D32"/>
          </a:solidFill>
          <a:ln/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62456" y="1371600"/>
            <a:ext cx="548640" cy="54864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93192" y="2103120"/>
            <a:ext cx="24871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429768" y="2487168"/>
            <a:ext cx="241401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Percentage of correct predictions over total samples. Gives overall model performance.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3172968" y="1170432"/>
            <a:ext cx="2633472" cy="1993392"/>
          </a:xfrm>
          <a:prstGeom prst="rect">
            <a:avLst/>
          </a:prstGeom>
          <a:solidFill>
            <a:srgbClr val="E3F2FD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3172968" y="1170432"/>
            <a:ext cx="2633472" cy="9144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7" name="Shape 13"/>
          <p:cNvSpPr/>
          <p:nvPr/>
        </p:nvSpPr>
        <p:spPr>
          <a:xfrm>
            <a:off x="4142232" y="1335024"/>
            <a:ext cx="694944" cy="694944"/>
          </a:xfrm>
          <a:prstGeom prst="ellipse">
            <a:avLst/>
          </a:prstGeom>
          <a:solidFill>
            <a:srgbClr val="1565C0"/>
          </a:solidFill>
          <a:ln/>
        </p:spPr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15384" y="1371600"/>
            <a:ext cx="548640" cy="54864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3246120" y="2103120"/>
            <a:ext cx="24871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Confusion Matrix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3282696" y="2487168"/>
            <a:ext cx="241401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showing TP, TN, FP, FN. Helps identify where the model is making errors.</a:t>
            </a:r>
            <a:endParaRPr lang="en-US" sz="1100" dirty="0"/>
          </a:p>
        </p:txBody>
      </p:sp>
      <p:sp>
        <p:nvSpPr>
          <p:cNvPr id="21" name="Shape 16"/>
          <p:cNvSpPr/>
          <p:nvPr/>
        </p:nvSpPr>
        <p:spPr>
          <a:xfrm>
            <a:off x="6025896" y="1170432"/>
            <a:ext cx="2633472" cy="1993392"/>
          </a:xfrm>
          <a:prstGeom prst="rect">
            <a:avLst/>
          </a:prstGeom>
          <a:solidFill>
            <a:srgbClr val="E0F7FA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6025896" y="1170432"/>
            <a:ext cx="2633472" cy="91440"/>
          </a:xfrm>
          <a:prstGeom prst="rect">
            <a:avLst/>
          </a:prstGeom>
          <a:solidFill>
            <a:srgbClr val="00ACC1"/>
          </a:solidFill>
          <a:ln/>
        </p:spPr>
      </p:sp>
      <p:sp>
        <p:nvSpPr>
          <p:cNvPr id="23" name="Shape 18"/>
          <p:cNvSpPr/>
          <p:nvPr/>
        </p:nvSpPr>
        <p:spPr>
          <a:xfrm>
            <a:off x="6995160" y="1335024"/>
            <a:ext cx="694944" cy="694944"/>
          </a:xfrm>
          <a:prstGeom prst="ellipse">
            <a:avLst/>
          </a:prstGeom>
          <a:solidFill>
            <a:srgbClr val="00ACC1"/>
          </a:solidFill>
          <a:ln/>
        </p:spPr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68312" y="1371600"/>
            <a:ext cx="548640" cy="54864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6099048" y="2103120"/>
            <a:ext cx="24871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 &amp; Recall</a:t>
            </a:r>
            <a:endParaRPr lang="en-US" sz="1400" dirty="0"/>
          </a:p>
        </p:txBody>
      </p:sp>
      <p:sp>
        <p:nvSpPr>
          <p:cNvPr id="26" name="Text 20"/>
          <p:cNvSpPr/>
          <p:nvPr/>
        </p:nvSpPr>
        <p:spPr>
          <a:xfrm>
            <a:off x="6135624" y="2487168"/>
            <a:ext cx="241401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Precision: correct positive predictions. Recall: correctly identified actual positives. F1-Score combines both.</a:t>
            </a:r>
            <a:endParaRPr lang="en-US" sz="1100" dirty="0"/>
          </a:p>
        </p:txBody>
      </p:sp>
      <p:sp>
        <p:nvSpPr>
          <p:cNvPr id="27" name="Text 21"/>
          <p:cNvSpPr/>
          <p:nvPr/>
        </p:nvSpPr>
        <p:spPr>
          <a:xfrm>
            <a:off x="320040" y="3188762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Confusion Matrix Structure</a:t>
            </a:r>
            <a:endParaRPr lang="en-US" sz="1300" dirty="0"/>
          </a:p>
        </p:txBody>
      </p:sp>
      <p:sp>
        <p:nvSpPr>
          <p:cNvPr id="28" name="Shape 22"/>
          <p:cNvSpPr/>
          <p:nvPr/>
        </p:nvSpPr>
        <p:spPr>
          <a:xfrm>
            <a:off x="320040" y="3611880"/>
            <a:ext cx="1645920" cy="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9" name="Text 23"/>
          <p:cNvSpPr/>
          <p:nvPr/>
        </p:nvSpPr>
        <p:spPr>
          <a:xfrm>
            <a:off x="320040" y="3611880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30" name="Text 24"/>
          <p:cNvSpPr/>
          <p:nvPr/>
        </p:nvSpPr>
        <p:spPr>
          <a:xfrm>
            <a:off x="1143000" y="3611880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Predicted +</a:t>
            </a:r>
            <a:endParaRPr lang="en-US" sz="1100" dirty="0"/>
          </a:p>
        </p:txBody>
      </p:sp>
      <p:sp>
        <p:nvSpPr>
          <p:cNvPr id="31" name="Text 25"/>
          <p:cNvSpPr/>
          <p:nvPr/>
        </p:nvSpPr>
        <p:spPr>
          <a:xfrm>
            <a:off x="2487168" y="3611880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Predicted -</a:t>
            </a:r>
            <a:endParaRPr lang="en-US" sz="1100" dirty="0"/>
          </a:p>
        </p:txBody>
      </p:sp>
      <p:sp>
        <p:nvSpPr>
          <p:cNvPr id="32" name="Text 26"/>
          <p:cNvSpPr/>
          <p:nvPr/>
        </p:nvSpPr>
        <p:spPr>
          <a:xfrm>
            <a:off x="320040" y="3886200"/>
            <a:ext cx="804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+</a:t>
            </a:r>
            <a:endParaRPr lang="en-US" sz="1100" dirty="0"/>
          </a:p>
        </p:txBody>
      </p:sp>
      <p:sp>
        <p:nvSpPr>
          <p:cNvPr id="33" name="Text 27"/>
          <p:cNvSpPr/>
          <p:nvPr/>
        </p:nvSpPr>
        <p:spPr>
          <a:xfrm>
            <a:off x="320040" y="4453128"/>
            <a:ext cx="804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-</a:t>
            </a:r>
            <a:endParaRPr lang="en-US" sz="1100" dirty="0"/>
          </a:p>
        </p:txBody>
      </p:sp>
      <p:sp>
        <p:nvSpPr>
          <p:cNvPr id="34" name="Shape 28"/>
          <p:cNvSpPr/>
          <p:nvPr/>
        </p:nvSpPr>
        <p:spPr>
          <a:xfrm>
            <a:off x="1143000" y="3886200"/>
            <a:ext cx="1325880" cy="548640"/>
          </a:xfrm>
          <a:prstGeom prst="rect">
            <a:avLst/>
          </a:prstGeom>
          <a:solidFill>
            <a:srgbClr val="C8E6C9"/>
          </a:solidFill>
          <a:ln/>
        </p:spPr>
      </p:sp>
      <p:sp>
        <p:nvSpPr>
          <p:cNvPr id="35" name="Text 29"/>
          <p:cNvSpPr/>
          <p:nvPr/>
        </p:nvSpPr>
        <p:spPr>
          <a:xfrm>
            <a:off x="1143000" y="3886200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Positive</a:t>
            </a:r>
            <a:endParaRPr lang="en-US" sz="1200" dirty="0"/>
          </a:p>
        </p:txBody>
      </p:sp>
      <p:sp>
        <p:nvSpPr>
          <p:cNvPr id="36" name="Shape 30"/>
          <p:cNvSpPr/>
          <p:nvPr/>
        </p:nvSpPr>
        <p:spPr>
          <a:xfrm>
            <a:off x="2487168" y="3886200"/>
            <a:ext cx="1325880" cy="548640"/>
          </a:xfrm>
          <a:prstGeom prst="rect">
            <a:avLst/>
          </a:prstGeom>
          <a:solidFill>
            <a:srgbClr val="FFCDD2"/>
          </a:solidFill>
          <a:ln/>
        </p:spPr>
      </p:sp>
      <p:sp>
        <p:nvSpPr>
          <p:cNvPr id="37" name="Text 31"/>
          <p:cNvSpPr/>
          <p:nvPr/>
        </p:nvSpPr>
        <p:spPr>
          <a:xfrm>
            <a:off x="2487168" y="3886200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Negative</a:t>
            </a:r>
            <a:endParaRPr lang="en-US" sz="1200" dirty="0"/>
          </a:p>
        </p:txBody>
      </p:sp>
      <p:sp>
        <p:nvSpPr>
          <p:cNvPr id="38" name="Shape 32"/>
          <p:cNvSpPr/>
          <p:nvPr/>
        </p:nvSpPr>
        <p:spPr>
          <a:xfrm>
            <a:off x="1143000" y="4453128"/>
            <a:ext cx="1325880" cy="548640"/>
          </a:xfrm>
          <a:prstGeom prst="rect">
            <a:avLst/>
          </a:prstGeom>
          <a:solidFill>
            <a:srgbClr val="FFCDD2"/>
          </a:solidFill>
          <a:ln/>
        </p:spPr>
      </p:sp>
      <p:sp>
        <p:nvSpPr>
          <p:cNvPr id="39" name="Text 33"/>
          <p:cNvSpPr/>
          <p:nvPr/>
        </p:nvSpPr>
        <p:spPr>
          <a:xfrm>
            <a:off x="1143000" y="4453128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Positive</a:t>
            </a:r>
            <a:endParaRPr lang="en-US" sz="1200" dirty="0"/>
          </a:p>
        </p:txBody>
      </p:sp>
      <p:sp>
        <p:nvSpPr>
          <p:cNvPr id="40" name="Shape 34"/>
          <p:cNvSpPr/>
          <p:nvPr/>
        </p:nvSpPr>
        <p:spPr>
          <a:xfrm>
            <a:off x="2487168" y="4453128"/>
            <a:ext cx="1325880" cy="548640"/>
          </a:xfrm>
          <a:prstGeom prst="rect">
            <a:avLst/>
          </a:prstGeom>
          <a:solidFill>
            <a:srgbClr val="C8E6C9"/>
          </a:solidFill>
          <a:ln/>
        </p:spPr>
      </p:sp>
      <p:sp>
        <p:nvSpPr>
          <p:cNvPr id="41" name="Text 35"/>
          <p:cNvSpPr/>
          <p:nvPr/>
        </p:nvSpPr>
        <p:spPr>
          <a:xfrm>
            <a:off x="2487168" y="4453128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TN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Negative</a:t>
            </a:r>
            <a:endParaRPr lang="en-US" sz="1200" dirty="0"/>
          </a:p>
        </p:txBody>
      </p:sp>
      <p:sp>
        <p:nvSpPr>
          <p:cNvPr id="42" name="Text 36"/>
          <p:cNvSpPr/>
          <p:nvPr/>
        </p:nvSpPr>
        <p:spPr>
          <a:xfrm>
            <a:off x="4023360" y="3291840"/>
            <a:ext cx="4800600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  <p:sp>
        <p:nvSpPr>
          <p:cNvPr id="43" name="Shape 37"/>
          <p:cNvSpPr/>
          <p:nvPr/>
        </p:nvSpPr>
        <p:spPr>
          <a:xfrm>
            <a:off x="4023360" y="3223260"/>
            <a:ext cx="4800600" cy="1737360"/>
          </a:xfrm>
          <a:prstGeom prst="rect">
            <a:avLst/>
          </a:prstGeom>
          <a:solidFill>
            <a:srgbClr val="E3F2FD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 dirty="0"/>
          </a:p>
        </p:txBody>
      </p:sp>
      <p:sp>
        <p:nvSpPr>
          <p:cNvPr id="44" name="Text 38"/>
          <p:cNvSpPr/>
          <p:nvPr/>
        </p:nvSpPr>
        <p:spPr>
          <a:xfrm>
            <a:off x="4023360" y="3246120"/>
            <a:ext cx="4800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Formulas</a:t>
            </a:r>
            <a:endParaRPr lang="en-US" sz="1300" dirty="0"/>
          </a:p>
        </p:txBody>
      </p:sp>
      <p:sp>
        <p:nvSpPr>
          <p:cNvPr id="45" name="Text 39"/>
          <p:cNvSpPr/>
          <p:nvPr/>
        </p:nvSpPr>
        <p:spPr>
          <a:xfrm>
            <a:off x="4160520" y="3611880"/>
            <a:ext cx="4526280" cy="12618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</a:t>
            </a: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TP / (TP + FP)
</a:t>
            </a:r>
            <a:endParaRPr lang="en-US" sz="1300" dirty="0"/>
          </a:p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TP / (TP + FN)
</a:t>
            </a:r>
            <a:endParaRPr lang="en-US" sz="1300" dirty="0"/>
          </a:p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F1-Score</a:t>
            </a: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2 × (P × R) / (P + R)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F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A234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9144000" cy="64008"/>
          </a:xfrm>
          <a:prstGeom prst="rect">
            <a:avLst/>
          </a:prstGeom>
          <a:solidFill>
            <a:srgbClr val="0288D1"/>
          </a:solidFill>
          <a:ln/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82880"/>
            <a:ext cx="548640" cy="5486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60120" y="73152"/>
            <a:ext cx="71323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Prediction System &amp; Future Work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8229600" y="137160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000" b="1" dirty="0">
                <a:solidFill>
                  <a:srgbClr val="0288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A2342"/>
          </a:solidFill>
          <a:ln/>
        </p:spPr>
      </p:sp>
      <p:sp>
        <p:nvSpPr>
          <p:cNvPr id="8" name="Text 5"/>
          <p:cNvSpPr/>
          <p:nvPr/>
        </p:nvSpPr>
        <p:spPr>
          <a:xfrm>
            <a:off x="274320" y="4892040"/>
            <a:ext cx="859536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3F2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 Quality Analysis &amp; Prediction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320040" y="1170432"/>
            <a:ext cx="4160520" cy="35204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20040" y="1170432"/>
            <a:ext cx="4160520" cy="475488"/>
          </a:xfrm>
          <a:prstGeom prst="rect">
            <a:avLst/>
          </a:prstGeom>
          <a:solidFill>
            <a:srgbClr val="0A2342"/>
          </a:solidFill>
          <a:ln/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1216152"/>
            <a:ext cx="384048" cy="38404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850392" y="1170432"/>
            <a:ext cx="3520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Prediction System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502920" y="173736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Inputs 9 Parameters: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457200" y="2084832"/>
            <a:ext cx="3749040" cy="301752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15" name="Text 11"/>
          <p:cNvSpPr/>
          <p:nvPr/>
        </p:nvSpPr>
        <p:spPr>
          <a:xfrm>
            <a:off x="566928" y="2084832"/>
            <a:ext cx="363931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  •  Hardness  •  Solids (TDS)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457200" y="2432304"/>
            <a:ext cx="3749040" cy="301752"/>
          </a:xfrm>
          <a:prstGeom prst="rect">
            <a:avLst/>
          </a:prstGeom>
          <a:solidFill>
            <a:srgbClr val="F0F7FF"/>
          </a:solidFill>
          <a:ln/>
        </p:spPr>
      </p:sp>
      <p:sp>
        <p:nvSpPr>
          <p:cNvPr id="17" name="Text 13"/>
          <p:cNvSpPr/>
          <p:nvPr/>
        </p:nvSpPr>
        <p:spPr>
          <a:xfrm>
            <a:off x="566928" y="2432304"/>
            <a:ext cx="363931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Chloramines  •  Sulfate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457200" y="2779776"/>
            <a:ext cx="3749040" cy="301752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19" name="Text 15"/>
          <p:cNvSpPr/>
          <p:nvPr/>
        </p:nvSpPr>
        <p:spPr>
          <a:xfrm>
            <a:off x="566928" y="2779776"/>
            <a:ext cx="363931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Conductivity  •  Organic Carbon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457200" y="3127248"/>
            <a:ext cx="3749040" cy="301752"/>
          </a:xfrm>
          <a:prstGeom prst="rect">
            <a:avLst/>
          </a:prstGeom>
          <a:solidFill>
            <a:srgbClr val="F0F7FF"/>
          </a:solidFill>
          <a:ln/>
        </p:spPr>
      </p:sp>
      <p:sp>
        <p:nvSpPr>
          <p:cNvPr id="21" name="Text 17"/>
          <p:cNvSpPr/>
          <p:nvPr/>
        </p:nvSpPr>
        <p:spPr>
          <a:xfrm>
            <a:off x="566928" y="3127248"/>
            <a:ext cx="363931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Trihalomethanes  •  Turbidity</a:t>
            </a:r>
            <a:endParaRPr lang="en-US" sz="1100" dirty="0"/>
          </a:p>
        </p:txBody>
      </p:sp>
      <p:sp>
        <p:nvSpPr>
          <p:cNvPr id="22" name="Text 18"/>
          <p:cNvSpPr/>
          <p:nvPr/>
        </p:nvSpPr>
        <p:spPr>
          <a:xfrm>
            <a:off x="320040" y="3456432"/>
            <a:ext cx="4160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288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2400" dirty="0"/>
          </a:p>
        </p:txBody>
      </p:sp>
      <p:sp>
        <p:nvSpPr>
          <p:cNvPr id="23" name="Shape 19"/>
          <p:cNvSpPr/>
          <p:nvPr/>
        </p:nvSpPr>
        <p:spPr>
          <a:xfrm>
            <a:off x="457200" y="3822192"/>
            <a:ext cx="1737360" cy="64008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24" name="Text 20"/>
          <p:cNvSpPr/>
          <p:nvPr/>
        </p:nvSpPr>
        <p:spPr>
          <a:xfrm>
            <a:off x="457200" y="3822192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SAFE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Potable</a:t>
            </a:r>
            <a:endParaRPr lang="en-US" sz="1300" dirty="0"/>
          </a:p>
        </p:txBody>
      </p:sp>
      <p:sp>
        <p:nvSpPr>
          <p:cNvPr id="25" name="Text 21"/>
          <p:cNvSpPr/>
          <p:nvPr/>
        </p:nvSpPr>
        <p:spPr>
          <a:xfrm>
            <a:off x="2212848" y="382219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</a:t>
            </a:r>
            <a:endParaRPr lang="en-US" sz="1400" dirty="0"/>
          </a:p>
        </p:txBody>
      </p:sp>
      <p:sp>
        <p:nvSpPr>
          <p:cNvPr id="26" name="Shape 22"/>
          <p:cNvSpPr/>
          <p:nvPr/>
        </p:nvSpPr>
        <p:spPr>
          <a:xfrm>
            <a:off x="2788920" y="3822192"/>
            <a:ext cx="1572768" cy="640080"/>
          </a:xfrm>
          <a:prstGeom prst="rect">
            <a:avLst/>
          </a:prstGeom>
          <a:solidFill>
            <a:srgbClr val="C62828"/>
          </a:solidFill>
          <a:ln/>
        </p:spPr>
      </p:sp>
      <p:sp>
        <p:nvSpPr>
          <p:cNvPr id="27" name="Text 23"/>
          <p:cNvSpPr/>
          <p:nvPr/>
        </p:nvSpPr>
        <p:spPr>
          <a:xfrm>
            <a:off x="2788920" y="3822192"/>
            <a:ext cx="15727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UNSAFE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Potable</a:t>
            </a:r>
            <a:endParaRPr lang="en-US" sz="1200" dirty="0"/>
          </a:p>
        </p:txBody>
      </p:sp>
      <p:sp>
        <p:nvSpPr>
          <p:cNvPr id="28" name="Shape 24"/>
          <p:cNvSpPr/>
          <p:nvPr/>
        </p:nvSpPr>
        <p:spPr>
          <a:xfrm>
            <a:off x="4663440" y="1170432"/>
            <a:ext cx="4160520" cy="3520440"/>
          </a:xfrm>
          <a:prstGeom prst="rect">
            <a:avLst/>
          </a:prstGeom>
          <a:solidFill>
            <a:srgbClr val="0A2342"/>
          </a:solidFill>
          <a:ln/>
          <a:effectLst>
            <a:outerShdw blurRad="1016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4663440" y="1170432"/>
            <a:ext cx="4160520" cy="475488"/>
          </a:xfrm>
          <a:prstGeom prst="rect">
            <a:avLst/>
          </a:prstGeom>
          <a:solidFill>
            <a:srgbClr val="00ACC1"/>
          </a:solidFill>
          <a:ln/>
        </p:spPr>
      </p:sp>
      <p:pic>
        <p:nvPicPr>
          <p:cNvPr id="30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1216152"/>
            <a:ext cx="384048" cy="384048"/>
          </a:xfrm>
          <a:prstGeom prst="rect">
            <a:avLst/>
          </a:prstGeom>
        </p:spPr>
      </p:pic>
      <p:sp>
        <p:nvSpPr>
          <p:cNvPr id="31" name="Text 26"/>
          <p:cNvSpPr/>
          <p:nvPr/>
        </p:nvSpPr>
        <p:spPr>
          <a:xfrm>
            <a:off x="5193792" y="1170432"/>
            <a:ext cx="3520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Improvements</a:t>
            </a:r>
            <a:endParaRPr lang="en-US" sz="1500" dirty="0"/>
          </a:p>
        </p:txBody>
      </p:sp>
      <p:sp>
        <p:nvSpPr>
          <p:cNvPr id="32" name="Shape 27"/>
          <p:cNvSpPr/>
          <p:nvPr/>
        </p:nvSpPr>
        <p:spPr>
          <a:xfrm>
            <a:off x="4773168" y="1755648"/>
            <a:ext cx="3931920" cy="603504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  <p:pic>
        <p:nvPicPr>
          <p:cNvPr id="33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46320" y="1847088"/>
            <a:ext cx="402336" cy="402336"/>
          </a:xfrm>
          <a:prstGeom prst="rect">
            <a:avLst/>
          </a:prstGeom>
        </p:spPr>
      </p:pic>
      <p:sp>
        <p:nvSpPr>
          <p:cNvPr id="34" name="Text 28"/>
          <p:cNvSpPr/>
          <p:nvPr/>
        </p:nvSpPr>
        <p:spPr>
          <a:xfrm>
            <a:off x="5321808" y="1792224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AC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Models</a:t>
            </a:r>
            <a:endParaRPr lang="en-US" sz="1300" dirty="0"/>
          </a:p>
        </p:txBody>
      </p:sp>
      <p:sp>
        <p:nvSpPr>
          <p:cNvPr id="35" name="Text 29"/>
          <p:cNvSpPr/>
          <p:nvPr/>
        </p:nvSpPr>
        <p:spPr>
          <a:xfrm>
            <a:off x="5321808" y="2066544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3F2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Upgrade to SVM and XGBoost for better accuracy and handling complex patterns</a:t>
            </a:r>
            <a:endParaRPr lang="en-US" sz="1100" dirty="0"/>
          </a:p>
        </p:txBody>
      </p:sp>
      <p:sp>
        <p:nvSpPr>
          <p:cNvPr id="36" name="Shape 30"/>
          <p:cNvSpPr/>
          <p:nvPr/>
        </p:nvSpPr>
        <p:spPr>
          <a:xfrm>
            <a:off x="4773168" y="2468880"/>
            <a:ext cx="3931920" cy="603504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  <p:pic>
        <p:nvPicPr>
          <p:cNvPr id="37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2560320"/>
            <a:ext cx="402336" cy="402336"/>
          </a:xfrm>
          <a:prstGeom prst="rect">
            <a:avLst/>
          </a:prstGeom>
        </p:spPr>
      </p:pic>
      <p:sp>
        <p:nvSpPr>
          <p:cNvPr id="38" name="Text 31"/>
          <p:cNvSpPr/>
          <p:nvPr/>
        </p:nvSpPr>
        <p:spPr>
          <a:xfrm>
            <a:off x="5321808" y="2505456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AC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Deployment</a:t>
            </a:r>
            <a:endParaRPr lang="en-US" sz="1300" dirty="0"/>
          </a:p>
        </p:txBody>
      </p:sp>
      <p:sp>
        <p:nvSpPr>
          <p:cNvPr id="39" name="Text 32"/>
          <p:cNvSpPr/>
          <p:nvPr/>
        </p:nvSpPr>
        <p:spPr>
          <a:xfrm>
            <a:off x="5321808" y="2779776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3F2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as a web app using Streamlit for a real-time interactive UI</a:t>
            </a:r>
            <a:endParaRPr lang="en-US" sz="1100" dirty="0"/>
          </a:p>
        </p:txBody>
      </p:sp>
      <p:sp>
        <p:nvSpPr>
          <p:cNvPr id="40" name="Shape 33"/>
          <p:cNvSpPr/>
          <p:nvPr/>
        </p:nvSpPr>
        <p:spPr>
          <a:xfrm>
            <a:off x="4773168" y="3182112"/>
            <a:ext cx="3931920" cy="603504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  <p:pic>
        <p:nvPicPr>
          <p:cNvPr id="41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0" y="3273552"/>
            <a:ext cx="402336" cy="402336"/>
          </a:xfrm>
          <a:prstGeom prst="rect">
            <a:avLst/>
          </a:prstGeom>
        </p:spPr>
      </p:pic>
      <p:sp>
        <p:nvSpPr>
          <p:cNvPr id="42" name="Text 34"/>
          <p:cNvSpPr/>
          <p:nvPr/>
        </p:nvSpPr>
        <p:spPr>
          <a:xfrm>
            <a:off x="5321808" y="3218688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AC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Sensors</a:t>
            </a:r>
            <a:endParaRPr lang="en-US" sz="1300" dirty="0"/>
          </a:p>
        </p:txBody>
      </p:sp>
      <p:sp>
        <p:nvSpPr>
          <p:cNvPr id="43" name="Text 35"/>
          <p:cNvSpPr/>
          <p:nvPr/>
        </p:nvSpPr>
        <p:spPr>
          <a:xfrm>
            <a:off x="5321808" y="3493008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3F2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 IoT water quality sensors for live continuous monitoring</a:t>
            </a:r>
            <a:endParaRPr lang="en-US" sz="1100" dirty="0"/>
          </a:p>
        </p:txBody>
      </p:sp>
      <p:sp>
        <p:nvSpPr>
          <p:cNvPr id="44" name="Shape 36"/>
          <p:cNvSpPr/>
          <p:nvPr/>
        </p:nvSpPr>
        <p:spPr>
          <a:xfrm>
            <a:off x="4773168" y="3895344"/>
            <a:ext cx="3931920" cy="603504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  <p:pic>
        <p:nvPicPr>
          <p:cNvPr id="45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46320" y="3986784"/>
            <a:ext cx="402336" cy="402336"/>
          </a:xfrm>
          <a:prstGeom prst="rect">
            <a:avLst/>
          </a:prstGeom>
        </p:spPr>
      </p:pic>
      <p:sp>
        <p:nvSpPr>
          <p:cNvPr id="46" name="Text 37"/>
          <p:cNvSpPr/>
          <p:nvPr/>
        </p:nvSpPr>
        <p:spPr>
          <a:xfrm>
            <a:off x="5321808" y="393192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AC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Explainability</a:t>
            </a:r>
            <a:endParaRPr lang="en-US" sz="1300" dirty="0"/>
          </a:p>
        </p:txBody>
      </p:sp>
      <p:sp>
        <p:nvSpPr>
          <p:cNvPr id="47" name="Text 38"/>
          <p:cNvSpPr/>
          <p:nvPr/>
        </p:nvSpPr>
        <p:spPr>
          <a:xfrm>
            <a:off x="5321808" y="420624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3F2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SHAP values to explain which features drive each prediction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</TotalTime>
  <Words>829</Words>
  <Application>Microsoft Office PowerPoint</Application>
  <PresentationFormat>On-screen Show (16:9)</PresentationFormat>
  <Paragraphs>211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Water Quality Analysis &amp; Prediction</dc:title>
  <dc:subject>PptxGenJS Presentation</dc:subject>
  <dc:creator>ANANTHAN S, MUHAMMED SHAHID S</dc:creator>
  <cp:lastModifiedBy>shahid s</cp:lastModifiedBy>
  <cp:revision>3</cp:revision>
  <dcterms:created xsi:type="dcterms:W3CDTF">2026-04-13T18:30:49Z</dcterms:created>
  <dcterms:modified xsi:type="dcterms:W3CDTF">2026-04-13T19:13:25Z</dcterms:modified>
</cp:coreProperties>
</file>