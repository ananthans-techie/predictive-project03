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82880"/>
            <a:ext cx="1828800" cy="1828800"/>
          </a:xfrm>
          <a:prstGeom prst="ellipse">
            <a:avLst/>
          </a:prstGeom>
          <a:solidFill>
            <a:srgbClr val="00BCD4">
              <a:alpha val="3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0D47A1">
              <a:alpha val="28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4023360"/>
            <a:ext cx="1280160" cy="1280160"/>
          </a:xfrm>
          <a:prstGeom prst="ellipse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 Drinking Prediction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1463040" y="2633472"/>
            <a:ext cx="6217920" cy="530352"/>
          </a:xfrm>
          <a:prstGeom prst="rect">
            <a:avLst/>
          </a:prstGeom>
          <a:solidFill>
            <a:srgbClr val="0D47A1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2633472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ML-Based Water Potability Prediction System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337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5808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Ananthan S   |   Muhammed Shahid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" y="38587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—  Academic Year 2025–26  |  Group Project 03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Water Quality Classification  |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097280"/>
            <a:ext cx="2029968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2029968" cy="914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8872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47472" y="17373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safe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41448" y="1097280"/>
            <a:ext cx="2029968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1097280"/>
            <a:ext cx="2029968" cy="9144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4" name="Text 11"/>
          <p:cNvSpPr/>
          <p:nvPr/>
        </p:nvSpPr>
        <p:spPr>
          <a:xfrm>
            <a:off x="2441448" y="118872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24–72h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514600" y="17373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08576" y="1097280"/>
            <a:ext cx="2029968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08576" y="1097280"/>
            <a:ext cx="2029968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5"/>
          <p:cNvSpPr/>
          <p:nvPr/>
        </p:nvSpPr>
        <p:spPr>
          <a:xfrm>
            <a:off x="4608576" y="118872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681728" y="17373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water-related diseases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75704" y="1097280"/>
            <a:ext cx="2029968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75704" y="1097280"/>
            <a:ext cx="2029968" cy="914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Text 19"/>
          <p:cNvSpPr/>
          <p:nvPr/>
        </p:nvSpPr>
        <p:spPr>
          <a:xfrm>
            <a:off x="6775704" y="118872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848856" y="17373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solutions deployed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2514600"/>
            <a:ext cx="8595360" cy="53035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514600"/>
            <a:ext cx="91440" cy="5303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96896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32688" y="2551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Crisis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32688" y="27889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(2023): 2 billion people still lack access to safely managed drinking water.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099816"/>
            <a:ext cx="8595360" cy="53035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74320" y="3099816"/>
            <a:ext cx="91440" cy="5303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2112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32688" y="3136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Detection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932688" y="33741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lab testing takes 24–72 hours — too slow for contamination events.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274320" y="3685032"/>
            <a:ext cx="8595360" cy="53035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274320" y="3685032"/>
            <a:ext cx="91440" cy="5303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67328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32688" y="3721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32688" y="39593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classifies water potability from 9 chemical properties in milliseconds.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274320" y="4270248"/>
            <a:ext cx="8595360" cy="53035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74320" y="4270248"/>
            <a:ext cx="91440" cy="5303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52544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32688" y="4306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32688" y="45445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interpretable predictions help engineers act on specific contaminants instantly.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3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4160520" cy="3602736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4160520" cy="420624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09728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Challenges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" y="1609344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16093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Lab testing takes 24–72 hours to return results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4048" y="2121408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" y="21214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cost — not accessible in rural / low-income regions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4048" y="2633472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2633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classification or automated alerts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84048" y="3145536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" y="31455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explainability — engineers can't pinpoint contaminants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4048" y="3657600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Class imbalance in data skews naive ML models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09160" y="1097280"/>
            <a:ext cx="4160520" cy="3602736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097280"/>
            <a:ext cx="4160520" cy="42062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109728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18888" y="1609344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1"/>
          <p:cNvSpPr/>
          <p:nvPr/>
        </p:nvSpPr>
        <p:spPr>
          <a:xfrm>
            <a:off x="4910328" y="16093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inference in milliseconds — real-time classification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18888" y="2121408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3"/>
          <p:cNvSpPr/>
          <p:nvPr/>
        </p:nvSpPr>
        <p:spPr>
          <a:xfrm>
            <a:off x="4910328" y="21214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Open-source pipeline accessible to all regions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18888" y="2633472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Text 25"/>
          <p:cNvSpPr/>
          <p:nvPr/>
        </p:nvSpPr>
        <p:spPr>
          <a:xfrm>
            <a:off x="4910328" y="2633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web app with interactive live predictions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818888" y="3145536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7"/>
          <p:cNvSpPr/>
          <p:nvPr/>
        </p:nvSpPr>
        <p:spPr>
          <a:xfrm>
            <a:off x="4910328" y="31455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explainability highlights root-cause contaminants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818888" y="3657600"/>
            <a:ext cx="393192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Text 29"/>
          <p:cNvSpPr/>
          <p:nvPr/>
        </p:nvSpPr>
        <p:spPr>
          <a:xfrm>
            <a:off x="4910328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SMOTE balancing ensures fair, unbiased model training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206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43000"/>
            <a:ext cx="4206240" cy="117043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43000"/>
            <a:ext cx="4206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Shape 7"/>
          <p:cNvSpPr/>
          <p:nvPr/>
        </p:nvSpPr>
        <p:spPr>
          <a:xfrm>
            <a:off x="402336" y="1380744"/>
            <a:ext cx="621792" cy="62179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123444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Potability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15568" y="155448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water samples as Potable or Non-Potable from 9 physicochemical parameters.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1143000"/>
            <a:ext cx="4206240" cy="117043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1143000"/>
            <a:ext cx="4206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Shape 12"/>
          <p:cNvSpPr/>
          <p:nvPr/>
        </p:nvSpPr>
        <p:spPr>
          <a:xfrm>
            <a:off x="4837176" y="1380744"/>
            <a:ext cx="621792" cy="62179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4173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50408" y="123444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550408" y="155448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preprocessing → EDA → feature engineering → SMOTE → training → evaluation.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404872"/>
            <a:ext cx="4206240" cy="117043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404872"/>
            <a:ext cx="4206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Shape 17"/>
          <p:cNvSpPr/>
          <p:nvPr/>
        </p:nvSpPr>
        <p:spPr>
          <a:xfrm>
            <a:off x="402336" y="2642616"/>
            <a:ext cx="621792" cy="62179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679192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249631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15568" y="281635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SMOTE oversampling to balance 61% Non-Potable vs 39% Potable class distribution.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09160" y="2404872"/>
            <a:ext cx="4206240" cy="117043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09160" y="2404872"/>
            <a:ext cx="4206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Shape 22"/>
          <p:cNvSpPr/>
          <p:nvPr/>
        </p:nvSpPr>
        <p:spPr>
          <a:xfrm>
            <a:off x="4837176" y="2642616"/>
            <a:ext cx="621792" cy="62179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679192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50408" y="249631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550408" y="281635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predictions interpretable — identify which features drive each potability decision.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74320" y="3666744"/>
            <a:ext cx="4206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Shape 27"/>
          <p:cNvSpPr/>
          <p:nvPr/>
        </p:nvSpPr>
        <p:spPr>
          <a:xfrm>
            <a:off x="402336" y="3904488"/>
            <a:ext cx="621792" cy="62179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941064"/>
            <a:ext cx="548640" cy="5486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15568" y="375818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115568" y="4078224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live interactive web app with sliders, WQI score, and probability output.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709160" y="3666744"/>
            <a:ext cx="4206240" cy="117043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709160" y="3666744"/>
            <a:ext cx="4206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0" name="Shape 32"/>
          <p:cNvSpPr/>
          <p:nvPr/>
        </p:nvSpPr>
        <p:spPr>
          <a:xfrm>
            <a:off x="4837176" y="3904488"/>
            <a:ext cx="621792" cy="62179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941064"/>
            <a:ext cx="548640" cy="54864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550408" y="375818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Simulation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5550408" y="4078224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real-time sensor monitoring with continuous inference and confidence scores.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2011680" cy="877824"/>
          </a:xfrm>
          <a:prstGeom prst="rect">
            <a:avLst/>
          </a:prstGeom>
          <a:solidFill>
            <a:srgbClr val="0D47A1">
              <a:alpha val="9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9184" y="15361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41448" y="1078992"/>
            <a:ext cx="2011680" cy="877824"/>
          </a:xfrm>
          <a:prstGeom prst="rect">
            <a:avLst/>
          </a:prstGeom>
          <a:solidFill>
            <a:srgbClr val="00897B">
              <a:alpha val="9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41448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96312" y="15361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08576" y="1078992"/>
            <a:ext cx="2011680" cy="877824"/>
          </a:xfrm>
          <a:prstGeom prst="rect">
            <a:avLst/>
          </a:prstGeom>
          <a:solidFill>
            <a:srgbClr val="00C853">
              <a:alpha val="9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08576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663440" y="15361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 (39%)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75704" y="1078992"/>
            <a:ext cx="2011680" cy="877824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75704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1,998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830568" y="15361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Non-Potable (61%)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" y="20848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Details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32304"/>
          <a:ext cx="548640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WHO Range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6.5 – 8.5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15.0%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Hardness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mg/L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300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Solids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ppm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500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Chloramines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ppm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4.0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Sulfate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mg/L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250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23.8% ⚠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Conductivity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μS/cm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400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Organic Carbon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ppm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2.0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Trihalomethanes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μg/L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80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4.9%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Turbidity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NTU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1.0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035040" y="2084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35040" y="2450592"/>
            <a:ext cx="2834640" cy="5303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3" name="Text 19"/>
          <p:cNvSpPr/>
          <p:nvPr/>
        </p:nvSpPr>
        <p:spPr>
          <a:xfrm>
            <a:off x="6035040" y="24505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Non-Potable: 61%  (1,998 samples)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35040" y="3035808"/>
            <a:ext cx="2834640" cy="3474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5" name="Text 21"/>
          <p:cNvSpPr/>
          <p:nvPr/>
        </p:nvSpPr>
        <p:spPr>
          <a:xfrm>
            <a:off x="6035040" y="3035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Potable: 39%  (1,278 samples)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035040" y="3456432"/>
            <a:ext cx="2834640" cy="1316736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126480" y="3511296"/>
            <a:ext cx="2651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Water Potability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3,276 samples × 10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Potability (0 = Not Safe,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Safe to drink)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5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Dataset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56032" y="1078992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78992"/>
            <a:ext cx="2798064" cy="43891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" y="1152144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47472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" y="11521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" y="159105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6.5 – 8.5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18288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Acid/alkalinity balance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078992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078992"/>
            <a:ext cx="2798064" cy="43891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7" name="Shape 14"/>
          <p:cNvSpPr/>
          <p:nvPr/>
        </p:nvSpPr>
        <p:spPr>
          <a:xfrm>
            <a:off x="3291840" y="1152144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291840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0" y="11521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91840" y="159105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300 mg/L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91840" y="18288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minerals (Ca, Mg)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4768" y="1078992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44768" y="1078992"/>
            <a:ext cx="2798064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6208" y="1152144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236208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01968" y="11521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 (TDS)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36208" y="159105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500 ppm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36208" y="18288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dissolved solids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56032" y="2377440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" y="2377440"/>
            <a:ext cx="2798064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1" name="Shape 28"/>
          <p:cNvSpPr/>
          <p:nvPr/>
        </p:nvSpPr>
        <p:spPr>
          <a:xfrm>
            <a:off x="347472" y="245059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347472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3232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Chloramines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47472" y="288950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4.0 ppm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47472" y="312724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Disinfectant residual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200400" y="2377440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200400" y="2377440"/>
            <a:ext cx="2798064" cy="438912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38" name="Shape 35"/>
          <p:cNvSpPr/>
          <p:nvPr/>
        </p:nvSpPr>
        <p:spPr>
          <a:xfrm>
            <a:off x="3291840" y="245059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329184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657600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291840" y="288950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250 mg/L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291840" y="312724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compound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144768" y="2377440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144768" y="2377440"/>
            <a:ext cx="2798064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5" name="Shape 42"/>
          <p:cNvSpPr/>
          <p:nvPr/>
        </p:nvSpPr>
        <p:spPr>
          <a:xfrm>
            <a:off x="6236208" y="245059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601968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6236208" y="288950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400 μS/cm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236208" y="312724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conductivity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56032" y="3675888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256032" y="3675888"/>
            <a:ext cx="2798064" cy="43891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52" name="Shape 49"/>
          <p:cNvSpPr/>
          <p:nvPr/>
        </p:nvSpPr>
        <p:spPr>
          <a:xfrm>
            <a:off x="347472" y="374904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3474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13232" y="37490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347472" y="41879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2.0 ppm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347472" y="442569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matter content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200400" y="3675888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3200400" y="3675888"/>
            <a:ext cx="2798064" cy="43891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59" name="Shape 56"/>
          <p:cNvSpPr/>
          <p:nvPr/>
        </p:nvSpPr>
        <p:spPr>
          <a:xfrm>
            <a:off x="3291840" y="374904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329184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3657600" y="37490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Trihalomethanes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3291840" y="41879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80 μg/L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3291840" y="442569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Chlorination by-products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144768" y="3675888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6144768" y="3675888"/>
            <a:ext cx="2798064" cy="43891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6" name="Shape 63"/>
          <p:cNvSpPr/>
          <p:nvPr/>
        </p:nvSpPr>
        <p:spPr>
          <a:xfrm>
            <a:off x="6236208" y="374904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6236208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601968" y="37490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6236208" y="41879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&lt; 1.0 NTU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6236208" y="442569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clarity/cloudiness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2" name="Text 69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 —  End-to-End Pipeline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56032" y="1115568"/>
            <a:ext cx="859536" cy="12801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243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92608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24712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188720" y="1115568"/>
            <a:ext cx="859536" cy="1280160"/>
          </a:xfrm>
          <a:prstGeom prst="rect">
            <a:avLst/>
          </a:prstGeom>
          <a:solidFill>
            <a:srgbClr val="006064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773936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7" name="Text 13"/>
          <p:cNvSpPr/>
          <p:nvPr/>
        </p:nvSpPr>
        <p:spPr>
          <a:xfrm>
            <a:off x="1773936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2435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5296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225296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/ Scale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057400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121408" y="1115568"/>
            <a:ext cx="859536" cy="1280160"/>
          </a:xfrm>
          <a:prstGeom prst="rect">
            <a:avLst/>
          </a:prstGeom>
          <a:solidFill>
            <a:srgbClr val="0277BD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06624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4" name="Text 19"/>
          <p:cNvSpPr/>
          <p:nvPr/>
        </p:nvSpPr>
        <p:spPr>
          <a:xfrm>
            <a:off x="2706624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24358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57984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2157984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Plot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2990088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054096" y="1115568"/>
            <a:ext cx="859536" cy="128016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39312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1" name="Text 25"/>
          <p:cNvSpPr/>
          <p:nvPr/>
        </p:nvSpPr>
        <p:spPr>
          <a:xfrm>
            <a:off x="3639312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243584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090672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090672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 · pH_safe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3922776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986784" y="1115568"/>
            <a:ext cx="859536" cy="1280160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572000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8" name="Text 31"/>
          <p:cNvSpPr/>
          <p:nvPr/>
        </p:nvSpPr>
        <p:spPr>
          <a:xfrm>
            <a:off x="4572000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1243584"/>
            <a:ext cx="438912" cy="43891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023360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023360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Classes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4855464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919472" y="1115568"/>
            <a:ext cx="859536" cy="128016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5504688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45" name="Text 37"/>
          <p:cNvSpPr/>
          <p:nvPr/>
        </p:nvSpPr>
        <p:spPr>
          <a:xfrm>
            <a:off x="5504688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784" y="1243584"/>
            <a:ext cx="438912" cy="43891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956048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4956048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SVM / XGB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5788152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5852160" y="1115568"/>
            <a:ext cx="859536" cy="1280160"/>
          </a:xfrm>
          <a:prstGeom prst="rect">
            <a:avLst/>
          </a:prstGeom>
          <a:solidFill>
            <a:srgbClr val="01579B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6437376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2" name="Text 43"/>
          <p:cNvSpPr/>
          <p:nvPr/>
        </p:nvSpPr>
        <p:spPr>
          <a:xfrm>
            <a:off x="6437376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1243584"/>
            <a:ext cx="438912" cy="438912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888736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5888736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· F1 · ROC</a:t>
            </a:r>
            <a:endParaRPr lang="en-US" sz="950" dirty="0"/>
          </a:p>
        </p:txBody>
      </p:sp>
      <p:sp>
        <p:nvSpPr>
          <p:cNvPr id="56" name="Text 46"/>
          <p:cNvSpPr/>
          <p:nvPr/>
        </p:nvSpPr>
        <p:spPr>
          <a:xfrm>
            <a:off x="6720840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6784848" y="1115568"/>
            <a:ext cx="859536" cy="1280160"/>
          </a:xfrm>
          <a:prstGeom prst="rect">
            <a:avLst/>
          </a:prstGeom>
          <a:solidFill>
            <a:srgbClr val="006064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7370064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9" name="Text 49"/>
          <p:cNvSpPr/>
          <p:nvPr/>
        </p:nvSpPr>
        <p:spPr>
          <a:xfrm>
            <a:off x="7370064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1243584"/>
            <a:ext cx="438912" cy="438912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6821424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6821424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63" name="Text 52"/>
          <p:cNvSpPr/>
          <p:nvPr/>
        </p:nvSpPr>
        <p:spPr>
          <a:xfrm>
            <a:off x="7653528" y="1645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7717536" y="1115568"/>
            <a:ext cx="859536" cy="1280160"/>
          </a:xfrm>
          <a:prstGeom prst="rect">
            <a:avLst/>
          </a:prstGeom>
          <a:solidFill>
            <a:srgbClr val="0288D1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5" name="Shape 54"/>
          <p:cNvSpPr/>
          <p:nvPr/>
        </p:nvSpPr>
        <p:spPr>
          <a:xfrm>
            <a:off x="8302752" y="987552"/>
            <a:ext cx="274320" cy="2743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66" name="Text 55"/>
          <p:cNvSpPr/>
          <p:nvPr/>
        </p:nvSpPr>
        <p:spPr>
          <a:xfrm>
            <a:off x="8302752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7848" y="1243584"/>
            <a:ext cx="438912" cy="43891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7754112" y="17373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050" dirty="0"/>
          </a:p>
        </p:txBody>
      </p:sp>
      <p:sp>
        <p:nvSpPr>
          <p:cNvPr id="69" name="Text 57"/>
          <p:cNvSpPr/>
          <p:nvPr/>
        </p:nvSpPr>
        <p:spPr>
          <a:xfrm>
            <a:off x="7754112" y="204825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950" dirty="0"/>
          </a:p>
        </p:txBody>
      </p:sp>
      <p:sp>
        <p:nvSpPr>
          <p:cNvPr id="70" name="Shape 58"/>
          <p:cNvSpPr/>
          <p:nvPr/>
        </p:nvSpPr>
        <p:spPr>
          <a:xfrm>
            <a:off x="256032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1" name="Text 59"/>
          <p:cNvSpPr/>
          <p:nvPr/>
        </p:nvSpPr>
        <p:spPr>
          <a:xfrm>
            <a:off x="292608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water_potability.csv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1188720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3" name="Text 61"/>
          <p:cNvSpPr/>
          <p:nvPr/>
        </p:nvSpPr>
        <p:spPr>
          <a:xfrm>
            <a:off x="1225296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Group-wise median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Winsorization</a:t>
            </a:r>
            <a:endParaRPr lang="en-US" sz="900" dirty="0"/>
          </a:p>
        </p:txBody>
      </p:sp>
      <p:sp>
        <p:nvSpPr>
          <p:cNvPr id="74" name="Shape 62"/>
          <p:cNvSpPr/>
          <p:nvPr/>
        </p:nvSpPr>
        <p:spPr>
          <a:xfrm>
            <a:off x="2121408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5" name="Text 63"/>
          <p:cNvSpPr/>
          <p:nvPr/>
        </p:nvSpPr>
        <p:spPr>
          <a:xfrm>
            <a:off x="2157984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900" dirty="0"/>
          </a:p>
        </p:txBody>
      </p:sp>
      <p:sp>
        <p:nvSpPr>
          <p:cNvPr id="76" name="Shape 64"/>
          <p:cNvSpPr/>
          <p:nvPr/>
        </p:nvSpPr>
        <p:spPr>
          <a:xfrm>
            <a:off x="3054096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7" name="Text 65"/>
          <p:cNvSpPr/>
          <p:nvPr/>
        </p:nvSpPr>
        <p:spPr>
          <a:xfrm>
            <a:off x="3090672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pH_safe flag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Hard/Cond ratio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3986784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9" name="Text 67"/>
          <p:cNvSpPr/>
          <p:nvPr/>
        </p:nvSpPr>
        <p:spPr>
          <a:xfrm>
            <a:off x="4023360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over-sampling</a:t>
            </a:r>
            <a:endParaRPr lang="en-US" sz="900" dirty="0"/>
          </a:p>
        </p:txBody>
      </p:sp>
      <p:sp>
        <p:nvSpPr>
          <p:cNvPr id="80" name="Shape 68"/>
          <p:cNvSpPr/>
          <p:nvPr/>
        </p:nvSpPr>
        <p:spPr>
          <a:xfrm>
            <a:off x="4919472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1" name="Text 69"/>
          <p:cNvSpPr/>
          <p:nvPr/>
        </p:nvSpPr>
        <p:spPr>
          <a:xfrm>
            <a:off x="4956048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200 trees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RBF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300</a:t>
            </a:r>
            <a:endParaRPr lang="en-US" sz="900" dirty="0"/>
          </a:p>
        </p:txBody>
      </p:sp>
      <p:sp>
        <p:nvSpPr>
          <p:cNvPr id="82" name="Shape 70"/>
          <p:cNvSpPr/>
          <p:nvPr/>
        </p:nvSpPr>
        <p:spPr>
          <a:xfrm>
            <a:off x="5852160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3" name="Text 71"/>
          <p:cNvSpPr/>
          <p:nvPr/>
        </p:nvSpPr>
        <p:spPr>
          <a:xfrm>
            <a:off x="5888736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84" name="Shape 72"/>
          <p:cNvSpPr/>
          <p:nvPr/>
        </p:nvSpPr>
        <p:spPr>
          <a:xfrm>
            <a:off x="6784848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5" name="Text 73"/>
          <p:cNvSpPr/>
          <p:nvPr/>
        </p:nvSpPr>
        <p:spPr>
          <a:xfrm>
            <a:off x="6821424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</a:t>
            </a:r>
            <a:endParaRPr lang="en-US" sz="900" dirty="0"/>
          </a:p>
        </p:txBody>
      </p:sp>
      <p:sp>
        <p:nvSpPr>
          <p:cNvPr id="86" name="Shape 74"/>
          <p:cNvSpPr/>
          <p:nvPr/>
        </p:nvSpPr>
        <p:spPr>
          <a:xfrm>
            <a:off x="7717536" y="2487168"/>
            <a:ext cx="859536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7" name="Text 75"/>
          <p:cNvSpPr/>
          <p:nvPr/>
        </p:nvSpPr>
        <p:spPr>
          <a:xfrm>
            <a:off x="7754112" y="2505456"/>
            <a:ext cx="78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00" dirty="0"/>
          </a:p>
        </p:txBody>
      </p:sp>
      <p:sp>
        <p:nvSpPr>
          <p:cNvPr id="88" name="Text 76"/>
          <p:cNvSpPr/>
          <p:nvPr/>
        </p:nvSpPr>
        <p:spPr>
          <a:xfrm>
            <a:off x="274320" y="356616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 — a complete data science life cycle across 10 structured phases</a:t>
            </a:r>
            <a:endParaRPr lang="en-US" sz="1150" dirty="0"/>
          </a:p>
        </p:txBody>
      </p:sp>
      <p:sp>
        <p:nvSpPr>
          <p:cNvPr id="89" name="Shape 7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0" name="Text 7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1225296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128016" cy="122529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" y="1371600"/>
            <a:ext cx="566928" cy="566928"/>
          </a:xfrm>
          <a:prstGeom prst="ellipse">
            <a:avLst/>
          </a:prstGeom>
          <a:solidFill>
            <a:srgbClr val="E53935">
              <a:alpha val="8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08176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2144" y="115214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Value Handling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2144" y="149961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ph: 491 missing (15.0%)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Sulfate: 781 missing (23.8%)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Trihalomethanes: 162 missing (4.9%)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Group-wise median imputation by Potability class — preserves class signal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2395728"/>
            <a:ext cx="8595360" cy="1225296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2395728"/>
            <a:ext cx="128016" cy="1225296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5" name="Shape 11"/>
          <p:cNvSpPr/>
          <p:nvPr/>
        </p:nvSpPr>
        <p:spPr>
          <a:xfrm>
            <a:off x="475488" y="2688336"/>
            <a:ext cx="566928" cy="566928"/>
          </a:xfrm>
          <a:prstGeom prst="ellipse">
            <a:avLst/>
          </a:prstGeom>
          <a:solidFill>
            <a:srgbClr val="0D47A1">
              <a:alpha val="8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72491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52144" y="246888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Outlier Treatment (Winsorization)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52144" y="28163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Winsorization (1.5× fence)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extreme values — no rows removed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outlier skew in model training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74320" y="3712464"/>
            <a:ext cx="8595360" cy="1225296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3712464"/>
            <a:ext cx="128016" cy="122529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Shape 16"/>
          <p:cNvSpPr/>
          <p:nvPr/>
        </p:nvSpPr>
        <p:spPr>
          <a:xfrm>
            <a:off x="475488" y="4005072"/>
            <a:ext cx="566928" cy="566928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041648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2144" y="378561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Scaling — StandardScaler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52144" y="413308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 normalization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train/test split (no leakage)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equal feature weight in SVM &amp; others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0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Data Preprocessing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15568"/>
            <a:ext cx="4206240" cy="17190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4206240" cy="4572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18872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2336" y="1664208"/>
            <a:ext cx="3950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 per feature split by Potability class — reveals overlap, skewness and separation power of each parameter.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1728" y="1115568"/>
            <a:ext cx="4206240" cy="17190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81728" y="1115568"/>
            <a:ext cx="4206240" cy="457200"/>
          </a:xfrm>
          <a:prstGeom prst="rect">
            <a:avLst/>
          </a:prstGeom>
          <a:solidFill>
            <a:srgbClr val="0060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18872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118872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09744" y="1664208"/>
            <a:ext cx="3950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12×12 Pearson correlation matrix of all engineered features. Identifies multicollinearity and inter-feature relationships.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74320" y="2962656"/>
            <a:ext cx="4206240" cy="17190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962656"/>
            <a:ext cx="4206240" cy="457200"/>
          </a:xfrm>
          <a:prstGeom prst="rect">
            <a:avLst/>
          </a:prstGeom>
          <a:solidFill>
            <a:srgbClr val="00695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358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6384" y="303580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by Class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02336" y="3511296"/>
            <a:ext cx="3950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boxplots for Potable vs Non-Potable — highlights median shifts and variance differences per feature.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1728" y="2962656"/>
            <a:ext cx="4206240" cy="17190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81728" y="2962656"/>
            <a:ext cx="4206240" cy="45720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0358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93792" y="303580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Chart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809744" y="3511296"/>
            <a:ext cx="3950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pie visualisation of 61% Non-Potable vs 39% Potable imbalance — motivates use of SMOTE in next stage.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157276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8595360" cy="43891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155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07899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Water Quality Index (WQI) — Composite Safety Score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2336" y="155448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WQI  =  (pH/8.5 × 0.15) + ((1 − Turbidity/6.7) × 0.20) + ((1 − Chloramines/13.1) × 0.20)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((1 − THMs/124) × 0.15) + ((1 − Solids/61227) × 0.15) + ((1 − Sulfate/481) × 0.15)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779776"/>
            <a:ext cx="4206240" cy="193852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2779776"/>
            <a:ext cx="4206240" cy="420624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0720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27797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pH Safety Flag  (pH_safe)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02336" y="3255264"/>
            <a:ext cx="3950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indicator: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pH ∈ [6.5, 8.5]  (WHO safe range)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pH outside safe range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by model as an interpretable feature.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81728" y="2779776"/>
            <a:ext cx="4206240" cy="193852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81728" y="2779776"/>
            <a:ext cx="4206240" cy="420624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80720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7797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Hardness / Conductivity Ratio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09744" y="3255264"/>
            <a:ext cx="3950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Hard_Cond_ratio = Hardness ÷ Conductivity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mineral concentration relative to ion mobility.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additional dimension not in raw features.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17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Feature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Handling Class Imbalance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15568"/>
            <a:ext cx="3931920" cy="3493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3931920" cy="43891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SMOTE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664208"/>
            <a:ext cx="3566160" cy="4754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6642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Non-Potable  61%  (1,998)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212848"/>
            <a:ext cx="2212848" cy="47548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2128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  39%  (1,278)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2336" y="2834640"/>
            <a:ext cx="36941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Skewed dataset — model biased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majority class (Non-Potable).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accuracy misleading.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(Potable) under-predicted.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60520" y="2286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60520" y="25968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4937760" y="1115568"/>
            <a:ext cx="3931920" cy="3493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37760" y="1115568"/>
            <a:ext cx="3931920" cy="43891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120640" y="1664208"/>
            <a:ext cx="3566160" cy="4754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0" y="16642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Non-Potable  50%  (1,998)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20640" y="2212848"/>
            <a:ext cx="3566160" cy="47548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22128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  50%  (1,998 synthetic)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65776" y="2834640"/>
            <a:ext cx="36941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Balanced training set —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both classes equally.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only on training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leakage into test set).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56032" y="1078992"/>
            <a:ext cx="2798064" cy="376732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078992"/>
            <a:ext cx="2798064" cy="54864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824" y="109728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77824" y="13716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Bagging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1700784"/>
            <a:ext cx="2578608" cy="768096"/>
          </a:xfrm>
          <a:prstGeom prst="rect">
            <a:avLst/>
          </a:prstGeom>
          <a:solidFill>
            <a:srgbClr val="0D2A47"/>
          </a:solidFill>
          <a:ln/>
        </p:spPr>
      </p:sp>
      <p:sp>
        <p:nvSpPr>
          <p:cNvPr id="13" name="Text 9"/>
          <p:cNvSpPr/>
          <p:nvPr/>
        </p:nvSpPr>
        <p:spPr>
          <a:xfrm>
            <a:off x="420624" y="17373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estimators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5-fold stratified CV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84048" y="2560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84048" y="283464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built-in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boundaries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via bagging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0" y="1078992"/>
            <a:ext cx="2798064" cy="376732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0" y="1078992"/>
            <a:ext cx="2798064" cy="548640"/>
          </a:xfrm>
          <a:prstGeom prst="rect">
            <a:avLst/>
          </a:prstGeom>
          <a:solidFill>
            <a:srgbClr val="00606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155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22192" y="109728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822192" y="13716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SVC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310128" y="1700784"/>
            <a:ext cx="2578608" cy="768096"/>
          </a:xfrm>
          <a:prstGeom prst="rect">
            <a:avLst/>
          </a:prstGeom>
          <a:solidFill>
            <a:srgbClr val="0D2A47"/>
          </a:solidFill>
          <a:ln/>
        </p:spPr>
      </p:sp>
      <p:sp>
        <p:nvSpPr>
          <p:cNvPr id="22" name="Text 17"/>
          <p:cNvSpPr/>
          <p:nvPr/>
        </p:nvSpPr>
        <p:spPr>
          <a:xfrm>
            <a:off x="3364992" y="17373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RBF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10, gamma = 'scale'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5-fold stratified CV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328416" y="2560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Strengths: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328416" y="283464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 dimensions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post-scaling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margin maximisation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44768" y="1078992"/>
            <a:ext cx="2798064" cy="376732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44768" y="1078992"/>
            <a:ext cx="2798064" cy="54864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11556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6560" y="109728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766560" y="13716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254496" y="1700784"/>
            <a:ext cx="2578608" cy="768096"/>
          </a:xfrm>
          <a:prstGeom prst="rect">
            <a:avLst/>
          </a:prstGeom>
          <a:solidFill>
            <a:srgbClr val="0D2A47"/>
          </a:solidFill>
          <a:ln/>
        </p:spPr>
      </p:sp>
      <p:sp>
        <p:nvSpPr>
          <p:cNvPr id="31" name="Text 25"/>
          <p:cNvSpPr/>
          <p:nvPr/>
        </p:nvSpPr>
        <p:spPr>
          <a:xfrm>
            <a:off x="6309360" y="17373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estimators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0.05, max_depth = 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+ L2 regularisation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272784" y="2560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Strengths: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272784" y="283464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across all 5 metrics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errors iteratively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SHAP compatibility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feature interactions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29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ML Models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Pipeline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15568"/>
            <a:ext cx="4206240" cy="1225296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4206240" cy="914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335024"/>
            <a:ext cx="512064" cy="512064"/>
          </a:xfrm>
          <a:prstGeom prst="ellipse">
            <a:avLst/>
          </a:prstGeom>
          <a:solidFill>
            <a:srgbClr val="0D47A1">
              <a:alpha val="8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9264" y="12435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9264" y="159105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(2,620 samples) | 20% test (656 samples)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preserves class ratio in both sets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81728" y="1115568"/>
            <a:ext cx="4206240" cy="1225296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1115568"/>
            <a:ext cx="4206240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Shape 13"/>
          <p:cNvSpPr/>
          <p:nvPr/>
        </p:nvSpPr>
        <p:spPr>
          <a:xfrm>
            <a:off x="4773168" y="1335024"/>
            <a:ext cx="512064" cy="512064"/>
          </a:xfrm>
          <a:prstGeom prst="ellipse">
            <a:avLst/>
          </a:prstGeom>
          <a:solidFill>
            <a:srgbClr val="00897B">
              <a:alpha val="8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76672" y="12435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 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76672" y="159105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minority class on training data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set: 3,196 balanced samples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432304"/>
            <a:ext cx="4206240" cy="1225296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432304"/>
            <a:ext cx="4206240" cy="9144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2651760"/>
            <a:ext cx="512064" cy="512064"/>
          </a:xfrm>
          <a:prstGeom prst="ellipse">
            <a:avLst/>
          </a:prstGeom>
          <a:solidFill>
            <a:srgbClr val="006064">
              <a:alpha val="8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9264" y="256032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9264" y="2907792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 on training set, transform both train &amp;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— no test info in scaler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81728" y="2432304"/>
            <a:ext cx="4206240" cy="1225296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81728" y="2432304"/>
            <a:ext cx="4206240" cy="914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8" name="Shape 25"/>
          <p:cNvSpPr/>
          <p:nvPr/>
        </p:nvSpPr>
        <p:spPr>
          <a:xfrm>
            <a:off x="4773168" y="2651760"/>
            <a:ext cx="512064" cy="512064"/>
          </a:xfrm>
          <a:prstGeom prst="ellipse">
            <a:avLst/>
          </a:prstGeom>
          <a:solidFill>
            <a:srgbClr val="0D47A1">
              <a:alpha val="8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773168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76672" y="256032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376672" y="2907792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within training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score used for hyperparameter selection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3749040"/>
            <a:ext cx="4206240" cy="1225296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749040"/>
            <a:ext cx="4206240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4" name="Shape 31"/>
          <p:cNvSpPr/>
          <p:nvPr/>
        </p:nvSpPr>
        <p:spPr>
          <a:xfrm>
            <a:off x="365760" y="3968496"/>
            <a:ext cx="512064" cy="512064"/>
          </a:xfrm>
          <a:prstGeom prst="ellipse">
            <a:avLst/>
          </a:prstGeom>
          <a:solidFill>
            <a:srgbClr val="00897B">
              <a:alpha val="85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69264" y="38770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69264" y="422452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200 trees, max_depth=12 | SVM: C=10, RBF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300 trees, lr=0.05, L1+L2 regularisation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81728" y="3749040"/>
            <a:ext cx="4206240" cy="1225296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81728" y="3749040"/>
            <a:ext cx="4206240" cy="9144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40" name="Shape 37"/>
          <p:cNvSpPr/>
          <p:nvPr/>
        </p:nvSpPr>
        <p:spPr>
          <a:xfrm>
            <a:off x="4773168" y="3968496"/>
            <a:ext cx="512064" cy="512064"/>
          </a:xfrm>
          <a:prstGeom prst="ellipse">
            <a:avLst/>
          </a:prstGeom>
          <a:solidFill>
            <a:srgbClr val="006064">
              <a:alpha val="85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4773168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76672" y="38770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76672" y="422452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 set (20%) — never seen during training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F1, Precision, Recall, ROC-AUC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Metrics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1609344" cy="877824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1078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9184" y="151790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 / total samples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93392" y="1078992"/>
            <a:ext cx="1609344" cy="877824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993392" y="1078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048256" y="151790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  — avoid false 'safe' labels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712464" y="1078992"/>
            <a:ext cx="1609344" cy="877824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12464" y="1078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67328" y="151790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  — minimize missed unsafe water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31536" y="1078992"/>
            <a:ext cx="1609344" cy="877824"/>
          </a:xfrm>
          <a:prstGeom prst="rect">
            <a:avLst/>
          </a:prstGeom>
          <a:solidFill>
            <a:srgbClr val="006064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31536" y="1078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151790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50608" y="1078992"/>
            <a:ext cx="1609344" cy="877824"/>
          </a:xfrm>
          <a:prstGeom prst="rect">
            <a:avLst/>
          </a:prstGeom>
          <a:solidFill>
            <a:srgbClr val="FFD60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150608" y="1078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05472" y="151790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 — overall discriminative ability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2103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Structure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188720" y="2487168"/>
            <a:ext cx="1536192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1"/>
          <p:cNvSpPr/>
          <p:nvPr/>
        </p:nvSpPr>
        <p:spPr>
          <a:xfrm>
            <a:off x="1188720" y="24871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+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0" y="2487168"/>
            <a:ext cx="1536192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0" y="24871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−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2761488"/>
            <a:ext cx="896112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276148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+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3346704"/>
            <a:ext cx="896112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3346704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−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88720" y="2761488"/>
            <a:ext cx="1536192" cy="56692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2" name="Text 29"/>
          <p:cNvSpPr/>
          <p:nvPr/>
        </p:nvSpPr>
        <p:spPr>
          <a:xfrm>
            <a:off x="1188720" y="276148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743200" y="2761488"/>
            <a:ext cx="1536192" cy="566928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34" name="Text 31"/>
          <p:cNvSpPr/>
          <p:nvPr/>
        </p:nvSpPr>
        <p:spPr>
          <a:xfrm>
            <a:off x="2743200" y="276148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188720" y="3346704"/>
            <a:ext cx="1536192" cy="566928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36" name="Text 33"/>
          <p:cNvSpPr/>
          <p:nvPr/>
        </p:nvSpPr>
        <p:spPr>
          <a:xfrm>
            <a:off x="1188720" y="334670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743200" y="3346704"/>
            <a:ext cx="1536192" cy="56692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8" name="Text 35"/>
          <p:cNvSpPr/>
          <p:nvPr/>
        </p:nvSpPr>
        <p:spPr>
          <a:xfrm>
            <a:off x="2743200" y="334670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663440" y="2103120"/>
            <a:ext cx="4206240" cy="263347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754880" y="215798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Overview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754880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54880" y="2852928"/>
            <a:ext cx="2044598" cy="237744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3" name="Text 40"/>
          <p:cNvSpPr/>
          <p:nvPr/>
        </p:nvSpPr>
        <p:spPr>
          <a:xfrm>
            <a:off x="6854342" y="28529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54880" y="3236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754880" y="3511296"/>
            <a:ext cx="1949501" cy="237744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6" name="Text 43"/>
          <p:cNvSpPr/>
          <p:nvPr/>
        </p:nvSpPr>
        <p:spPr>
          <a:xfrm>
            <a:off x="6759245" y="35112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75488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754880" y="4169664"/>
            <a:ext cx="2092147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9" name="Text 46"/>
          <p:cNvSpPr/>
          <p:nvPr/>
        </p:nvSpPr>
        <p:spPr>
          <a:xfrm>
            <a:off x="6901891" y="41696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0.88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Text 4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0972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Hold-Out Test Set (20% — 656 samples)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8595360" cy="15727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SVM (RBF)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0.72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0.68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XGBoost ⭐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0.77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0.88 ★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029968" y="3602736"/>
            <a:ext cx="3250692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3" name="Text 9"/>
          <p:cNvSpPr/>
          <p:nvPr/>
        </p:nvSpPr>
        <p:spPr>
          <a:xfrm>
            <a:off x="5353812" y="3602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3986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029968" y="4041648"/>
            <a:ext cx="3044952" cy="25603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6" name="Text 12"/>
          <p:cNvSpPr/>
          <p:nvPr/>
        </p:nvSpPr>
        <p:spPr>
          <a:xfrm>
            <a:off x="514807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4320" y="4425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029968" y="4480560"/>
            <a:ext cx="3332988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5"/>
          <p:cNvSpPr/>
          <p:nvPr/>
        </p:nvSpPr>
        <p:spPr>
          <a:xfrm>
            <a:off x="5436108" y="4480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3145536"/>
            <a:ext cx="4206240" cy="160934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3145536"/>
            <a:ext cx="4206240" cy="91440"/>
          </a:xfrm>
          <a:prstGeom prst="rect">
            <a:avLst/>
          </a:prstGeom>
          <a:solidFill>
            <a:srgbClr val="FFD60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273552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58384" y="3218688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XGBoost — Deployed Model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73168" y="367588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across all 5 metrics.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corrects errors iteratively.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L1 + L2 regularisation prevents overfitting.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SHAP compatibility enables explainability.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42062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07899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— Making XGBoost Transparent for Public Health Decisions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609344"/>
            <a:ext cx="2798064" cy="221284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609344"/>
            <a:ext cx="2798064" cy="457200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62763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Bar Plot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84048" y="2121408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SHAP values per feature.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overall feature importance across all predictions.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 and Sulfate consistently top-ranked.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18688" y="1609344"/>
            <a:ext cx="2798064" cy="221284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18688" y="1609344"/>
            <a:ext cx="2798064" cy="45720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45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0" y="162763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Plot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28416" y="2121408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SHAP values — shows direction (positive/negative) and magnitude.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how each feature value shifts predictions toward Safe or Unsafe.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609344"/>
            <a:ext cx="2798064" cy="221284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63056" y="1609344"/>
            <a:ext cx="2798064" cy="457200"/>
          </a:xfrm>
          <a:prstGeom prst="rect">
            <a:avLst/>
          </a:prstGeom>
          <a:solidFill>
            <a:srgbClr val="00606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6459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93408" y="162763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72784" y="2121408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Single-prediction explanation step-by-step.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features pushed a specific water sample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Potable or Non-Potable classification.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274320" y="3913632"/>
            <a:ext cx="8595360" cy="87782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02336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SHAP Findings: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02336" y="42611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 &amp; Solids are the most influential raw features  •  Engineered WQI consistently ranks top-3  •  High Chloramines strongly pushes toward Not Potable  •  pH_safe flag provides a clean interpretable signal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SHAP Explainability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15568"/>
            <a:ext cx="2798064" cy="151790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2798064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298448"/>
            <a:ext cx="512064" cy="51206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3350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0976" y="1280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Sliders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5760" y="1865376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parameter sliders (pH, Turbidity…) — one per raw feature. Intuitive range-bounded inputs.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18688" y="1115568"/>
            <a:ext cx="2798064" cy="151790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18688" y="1115568"/>
            <a:ext cx="2798064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Shape 12"/>
          <p:cNvSpPr/>
          <p:nvPr/>
        </p:nvSpPr>
        <p:spPr>
          <a:xfrm>
            <a:off x="3310128" y="1298448"/>
            <a:ext cx="512064" cy="51206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133502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95344" y="1280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 Computation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310128" y="1865376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Water Quality Index calculated in real-time from slider values — displayed prominently.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63056" y="1115568"/>
            <a:ext cx="2798064" cy="151790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63056" y="1115568"/>
            <a:ext cx="2798064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Shape 17"/>
          <p:cNvSpPr/>
          <p:nvPr/>
        </p:nvSpPr>
        <p:spPr>
          <a:xfrm>
            <a:off x="6254496" y="1298448"/>
            <a:ext cx="512064" cy="51206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3502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39712" y="1280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Predict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254496" y="1865376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inference on engineered features. Result: Potable ✅ or Not Potable ❌.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74320" y="2743200"/>
            <a:ext cx="2798064" cy="151790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2743200"/>
            <a:ext cx="2798064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Shape 22"/>
          <p:cNvSpPr/>
          <p:nvPr/>
        </p:nvSpPr>
        <p:spPr>
          <a:xfrm>
            <a:off x="365760" y="2926080"/>
            <a:ext cx="512064" cy="51206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962656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0976" y="29077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Chart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65760" y="3493008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class probabilities — shows confidence of each prediction visually.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218688" y="2743200"/>
            <a:ext cx="2798064" cy="151790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18688" y="2743200"/>
            <a:ext cx="2798064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Shape 27"/>
          <p:cNvSpPr/>
          <p:nvPr/>
        </p:nvSpPr>
        <p:spPr>
          <a:xfrm>
            <a:off x="3310128" y="2926080"/>
            <a:ext cx="512064" cy="51206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2962656"/>
            <a:ext cx="438912" cy="4389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895344" y="29077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Summary Table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310128" y="3493008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summary of all 9 raw + 3 engineered features displayed for transparency.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163056" y="2743200"/>
            <a:ext cx="2798064" cy="1517904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163056" y="2743200"/>
            <a:ext cx="2798064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0" name="Shape 32"/>
          <p:cNvSpPr/>
          <p:nvPr/>
        </p:nvSpPr>
        <p:spPr>
          <a:xfrm>
            <a:off x="6254496" y="2926080"/>
            <a:ext cx="512064" cy="51206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962656"/>
            <a:ext cx="438912" cy="43891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839712" y="29077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254496" y="3493008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of edge-case slider values — app never crashes on boundary inputs.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Simulation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10789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Real-Time Monitoring Architecture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517904"/>
            <a:ext cx="182880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59105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(Simulated)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212848" y="19202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468880" y="1517904"/>
            <a:ext cx="1828800" cy="109728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159105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68880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315968" y="19202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4572000" y="1517904"/>
            <a:ext cx="1828800" cy="1097280"/>
          </a:xfrm>
          <a:prstGeom prst="rect">
            <a:avLst/>
          </a:prstGeom>
          <a:solidFill>
            <a:srgbClr val="006064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159105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0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19088" y="19202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675120" y="1517904"/>
            <a:ext cx="1828800" cy="109728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159105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75120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274320" y="276148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Simulation Output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27248"/>
          <a:ext cx="8595360" cy="1389888"/>
        </p:xfrm>
        <a:graphic>
          <a:graphicData uri="http://schemas.openxmlformats.org/drawingml/2006/table">
            <a:tbl>
              <a:tblPr/>
              <a:tblGrid>
                <a:gridCol w="1227909"/>
                <a:gridCol w="1227909"/>
                <a:gridCol w="1227909"/>
                <a:gridCol w="1227909"/>
                <a:gridCol w="1227909"/>
                <a:gridCol w="1227909"/>
                <a:gridCol w="1227909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Turbidity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WQI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01:33:12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7.3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3.21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0.612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✅  Potable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84.3%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01:33:12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5.1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5.87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0.341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❌  Not Potable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91.2%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01:33:13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7.9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2.44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0.708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✅  Potable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88.6%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5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1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IoT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56032" y="1115568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115568"/>
            <a:ext cx="2798064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" y="1316736"/>
            <a:ext cx="603504" cy="603504"/>
          </a:xfrm>
          <a:prstGeom prst="ellipse">
            <a:avLst/>
          </a:prstGeom>
          <a:solidFill>
            <a:srgbClr val="1565C0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53312"/>
            <a:ext cx="530352" cy="530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24358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24128" y="157276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0" y="1115568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115568"/>
            <a:ext cx="2798064" cy="7315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6" name="Shape 12"/>
          <p:cNvSpPr/>
          <p:nvPr/>
        </p:nvSpPr>
        <p:spPr>
          <a:xfrm>
            <a:off x="3291840" y="1316736"/>
            <a:ext cx="603504" cy="603504"/>
          </a:xfrm>
          <a:prstGeom prst="ellipse">
            <a:avLst/>
          </a:prstGeom>
          <a:solidFill>
            <a:srgbClr val="006064">
              <a:alpha val="8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1353312"/>
            <a:ext cx="530352" cy="5303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68496" y="124358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968496" y="157276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44768" y="1115568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44768" y="1115568"/>
            <a:ext cx="2798064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Shape 17"/>
          <p:cNvSpPr/>
          <p:nvPr/>
        </p:nvSpPr>
        <p:spPr>
          <a:xfrm>
            <a:off x="6236208" y="1316736"/>
            <a:ext cx="603504" cy="603504"/>
          </a:xfrm>
          <a:prstGeom prst="ellipse">
            <a:avLst/>
          </a:prstGeom>
          <a:solidFill>
            <a:srgbClr val="00897B">
              <a:alpha val="85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353312"/>
            <a:ext cx="530352" cy="5303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124358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912864" y="157276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 · SMOTE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56032" y="2432304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56032" y="2432304"/>
            <a:ext cx="2798064" cy="7315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8" name="Shape 22"/>
          <p:cNvSpPr/>
          <p:nvPr/>
        </p:nvSpPr>
        <p:spPr>
          <a:xfrm>
            <a:off x="347472" y="2633472"/>
            <a:ext cx="603504" cy="603504"/>
          </a:xfrm>
          <a:prstGeom prst="ellipse">
            <a:avLst/>
          </a:prstGeom>
          <a:solidFill>
            <a:srgbClr val="0277BD">
              <a:alpha val="85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670048"/>
            <a:ext cx="530352" cy="5303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24128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24128" y="2889504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3200400" y="2432304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00400" y="2432304"/>
            <a:ext cx="2798064" cy="731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4" name="Shape 27"/>
          <p:cNvSpPr/>
          <p:nvPr/>
        </p:nvSpPr>
        <p:spPr>
          <a:xfrm>
            <a:off x="3291840" y="2633472"/>
            <a:ext cx="603504" cy="603504"/>
          </a:xfrm>
          <a:prstGeom prst="ellipse">
            <a:avLst/>
          </a:prstGeom>
          <a:solidFill>
            <a:srgbClr val="00695C">
              <a:alpha val="85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2670048"/>
            <a:ext cx="530352" cy="5303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968496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3968496" y="2889504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6144768" y="2432304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144768" y="2432304"/>
            <a:ext cx="2798064" cy="731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0" name="Shape 32"/>
          <p:cNvSpPr/>
          <p:nvPr/>
        </p:nvSpPr>
        <p:spPr>
          <a:xfrm>
            <a:off x="6236208" y="2633472"/>
            <a:ext cx="603504" cy="603504"/>
          </a:xfrm>
          <a:prstGeom prst="ellipse">
            <a:avLst/>
          </a:prstGeom>
          <a:solidFill>
            <a:srgbClr val="1976D2">
              <a:alpha val="85000"/>
            </a:srgbClr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2670048"/>
            <a:ext cx="530352" cy="53035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912864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912864" y="2889504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256032" y="3749040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256032" y="3749040"/>
            <a:ext cx="2798064" cy="7315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6" name="Shape 37"/>
          <p:cNvSpPr/>
          <p:nvPr/>
        </p:nvSpPr>
        <p:spPr>
          <a:xfrm>
            <a:off x="347472" y="3950208"/>
            <a:ext cx="603504" cy="603504"/>
          </a:xfrm>
          <a:prstGeom prst="ellipse">
            <a:avLst/>
          </a:prstGeom>
          <a:solidFill>
            <a:srgbClr val="0D47A1">
              <a:alpha val="85000"/>
            </a:srgbClr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986784"/>
            <a:ext cx="530352" cy="53035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24128" y="387705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1024128" y="420624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3200400" y="3749040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3200400" y="3749040"/>
            <a:ext cx="2798064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2" name="Shape 42"/>
          <p:cNvSpPr/>
          <p:nvPr/>
        </p:nvSpPr>
        <p:spPr>
          <a:xfrm>
            <a:off x="3291840" y="3950208"/>
            <a:ext cx="603504" cy="603504"/>
          </a:xfrm>
          <a:prstGeom prst="ellipse">
            <a:avLst/>
          </a:prstGeom>
          <a:solidFill>
            <a:srgbClr val="1565C0">
              <a:alpha val="85000"/>
            </a:srgbClr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416" y="3986784"/>
            <a:ext cx="530352" cy="53035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3968496" y="387705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3968496" y="420624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150" dirty="0"/>
          </a:p>
        </p:txBody>
      </p:sp>
      <p:sp>
        <p:nvSpPr>
          <p:cNvPr id="56" name="Shape 45"/>
          <p:cNvSpPr/>
          <p:nvPr/>
        </p:nvSpPr>
        <p:spPr>
          <a:xfrm>
            <a:off x="6144768" y="3749040"/>
            <a:ext cx="2798064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7" name="Shape 46"/>
          <p:cNvSpPr/>
          <p:nvPr/>
        </p:nvSpPr>
        <p:spPr>
          <a:xfrm>
            <a:off x="6144768" y="3749040"/>
            <a:ext cx="2798064" cy="7315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58" name="Shape 47"/>
          <p:cNvSpPr/>
          <p:nvPr/>
        </p:nvSpPr>
        <p:spPr>
          <a:xfrm>
            <a:off x="6236208" y="3950208"/>
            <a:ext cx="603504" cy="603504"/>
          </a:xfrm>
          <a:prstGeom prst="ellipse">
            <a:avLst/>
          </a:prstGeom>
          <a:solidFill>
            <a:srgbClr val="006064">
              <a:alpha val="85000"/>
            </a:srgbClr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3986784"/>
            <a:ext cx="530352" cy="530352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6912864" y="387705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200" dirty="0"/>
          </a:p>
        </p:txBody>
      </p:sp>
      <p:sp>
        <p:nvSpPr>
          <p:cNvPr id="61" name="Text 49"/>
          <p:cNvSpPr/>
          <p:nvPr/>
        </p:nvSpPr>
        <p:spPr>
          <a:xfrm>
            <a:off x="6912864" y="420624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50" dirty="0"/>
          </a:p>
        </p:txBody>
      </p:sp>
      <p:sp>
        <p:nvSpPr>
          <p:cNvPr id="62" name="Shape 5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Text 5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4206240" cy="1207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420624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280160"/>
            <a:ext cx="566928" cy="566928"/>
          </a:xfrm>
          <a:prstGeom prst="ellipse">
            <a:avLst/>
          </a:prstGeom>
          <a:solidFill>
            <a:srgbClr val="1565C0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24128" y="117043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IoT Integration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1517904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physical sensors (Arduino / Raspberry Pi) via MQTT for continuous water quality monitoring in the field.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81728" y="1078992"/>
            <a:ext cx="4206240" cy="1207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1728" y="1078992"/>
            <a:ext cx="420624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Shape 12"/>
          <p:cNvSpPr/>
          <p:nvPr/>
        </p:nvSpPr>
        <p:spPr>
          <a:xfrm>
            <a:off x="4773168" y="1280160"/>
            <a:ext cx="566928" cy="566928"/>
          </a:xfrm>
          <a:prstGeom prst="ellipse">
            <a:avLst/>
          </a:prstGeom>
          <a:solidFill>
            <a:srgbClr val="00897B">
              <a:alpha val="8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773168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31536" y="117043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31536" y="1517904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 wrapping the Streamlit API — field workers can classify samples from their phones.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377440"/>
            <a:ext cx="4206240" cy="1207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377440"/>
            <a:ext cx="4206240" cy="7315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" y="2578608"/>
            <a:ext cx="566928" cy="566928"/>
          </a:xfrm>
          <a:prstGeom prst="ellipse">
            <a:avLst/>
          </a:prstGeom>
          <a:solidFill>
            <a:srgbClr val="006064">
              <a:alpha val="8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24128" y="246888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Dashboard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2816352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SHAP-powered region-specific water quality maps highlighting contamination hotspots across geographies.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81728" y="2377440"/>
            <a:ext cx="4206240" cy="1207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81728" y="2377440"/>
            <a:ext cx="4206240" cy="7315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7" name="Shape 24"/>
          <p:cNvSpPr/>
          <p:nvPr/>
        </p:nvSpPr>
        <p:spPr>
          <a:xfrm>
            <a:off x="4773168" y="2578608"/>
            <a:ext cx="566928" cy="566928"/>
          </a:xfrm>
          <a:prstGeom prst="ellipse">
            <a:avLst/>
          </a:prstGeom>
          <a:solidFill>
            <a:srgbClr val="0D47A1">
              <a:alpha val="8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7316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31536" y="246888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TabNet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31536" y="2816352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TabNet for tabular classification — attention mechanism may capture complex feature interactions better.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3675888"/>
            <a:ext cx="4206240" cy="1207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675888"/>
            <a:ext cx="4206240" cy="731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3" name="Shape 30"/>
          <p:cNvSpPr/>
          <p:nvPr/>
        </p:nvSpPr>
        <p:spPr>
          <a:xfrm>
            <a:off x="365760" y="3877056"/>
            <a:ext cx="566928" cy="566928"/>
          </a:xfrm>
          <a:prstGeom prst="ellipse">
            <a:avLst/>
          </a:prstGeom>
          <a:solidFill>
            <a:srgbClr val="1976D2">
              <a:alpha val="85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36576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24128" y="376732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Severity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24128" y="411480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binary (Safe/Unsafe) to severity levels: Safe / Borderline / Contaminated / Critical.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81728" y="3675888"/>
            <a:ext cx="4206240" cy="1207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81728" y="3675888"/>
            <a:ext cx="4206240" cy="731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9" name="Shape 36"/>
          <p:cNvSpPr/>
          <p:nvPr/>
        </p:nvSpPr>
        <p:spPr>
          <a:xfrm>
            <a:off x="4773168" y="3877056"/>
            <a:ext cx="566928" cy="566928"/>
          </a:xfrm>
          <a:prstGeom prst="ellipse">
            <a:avLst/>
          </a:prstGeom>
          <a:solidFill>
            <a:srgbClr val="00695C">
              <a:alpha val="85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773168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5431536" y="376732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Detection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31536" y="411480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performance on incoming data streams — retrain automatically when drift is detected.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Future Scope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15568"/>
            <a:ext cx="4206240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109728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408176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4447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207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ML Pipeline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15727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pipeline across 10 structured stages — from raw CSV to live Streamlit deployment.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81728" y="1115568"/>
            <a:ext cx="4206240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81728" y="1115568"/>
            <a:ext cx="109728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Shape 12"/>
          <p:cNvSpPr/>
          <p:nvPr/>
        </p:nvSpPr>
        <p:spPr>
          <a:xfrm>
            <a:off x="4864608" y="1408176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44475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1207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Best Model (81% Acc)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0" y="15727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outperforms RF and SVM across all 5 metrics. ROC-AUC of 0.88 confirms strong discriminative ability.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432304"/>
            <a:ext cx="4206240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432304"/>
            <a:ext cx="109728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Shape 17"/>
          <p:cNvSpPr/>
          <p:nvPr/>
        </p:nvSpPr>
        <p:spPr>
          <a:xfrm>
            <a:off x="457200" y="2724912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76148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2523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Predictions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78992" y="288950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makes the model transparent — critical for public health decisions. WQI and Sulfate are top drivers.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81728" y="2432304"/>
            <a:ext cx="4206240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81728" y="2432304"/>
            <a:ext cx="109728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Shape 22"/>
          <p:cNvSpPr/>
          <p:nvPr/>
        </p:nvSpPr>
        <p:spPr>
          <a:xfrm>
            <a:off x="4864608" y="2724912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2761488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0" y="2523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&amp; Balanced Training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0" y="288950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ensures both classes are equally learned — reducing bias toward the Non-Potable majority class.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74320" y="3749040"/>
            <a:ext cx="4206240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74320" y="3749040"/>
            <a:ext cx="109728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Shape 27"/>
          <p:cNvSpPr/>
          <p:nvPr/>
        </p:nvSpPr>
        <p:spPr>
          <a:xfrm>
            <a:off x="457200" y="4041648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078224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78992" y="3840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Ready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078992" y="420624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live inference, WQI computation, and probability output — deployable in minutes via Streamlit Cloud.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681728" y="3749040"/>
            <a:ext cx="4206240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681728" y="3749040"/>
            <a:ext cx="109728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0" name="Shape 32"/>
          <p:cNvSpPr/>
          <p:nvPr/>
        </p:nvSpPr>
        <p:spPr>
          <a:xfrm>
            <a:off x="4864608" y="4041648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4078224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486400" y="3840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Impact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5486400" y="420624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inference vs 24–72h lab testing. Scalable, accessible, and explainable water safety for all regions.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3200400" cy="3200400"/>
          </a:xfrm>
          <a:prstGeom prst="ellipse">
            <a:avLst/>
          </a:prstGeom>
          <a:solidFill>
            <a:srgbClr val="0D47A1">
              <a:alpha val="32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"/>
            <a:ext cx="1828800" cy="1828800"/>
          </a:xfrm>
          <a:prstGeom prst="ellipse">
            <a:avLst/>
          </a:prstGeom>
          <a:solidFill>
            <a:srgbClr val="00BCD4">
              <a:alpha val="38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3474720"/>
            <a:ext cx="2743200" cy="2743200"/>
          </a:xfrm>
          <a:prstGeom prst="ellipse">
            <a:avLst/>
          </a:prstGeom>
          <a:solidFill>
            <a:srgbClr val="0D47A1">
              <a:alpha val="28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743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6187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011680" y="2615184"/>
            <a:ext cx="512064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81635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3467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Ananthan S  (@ananthans-Techie)     |     Muhammed Shahid  (@muhammedshahidsds25-collab)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74904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264" y="3749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github.com/ananthans-Techie/Predictive-Project03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42428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—  Group Project 03  —  Academic Year 2025–26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for Safe Drinking Prediction  |  Built with passion, not just to finish it.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Classification</dc:title>
  <dc:subject>PptxGenJS Presentation</dc:subject>
  <dc:creator>PptxGenJS</dc:creator>
  <cp:lastModifiedBy>PptxGenJS</cp:lastModifiedBy>
  <cp:revision>1</cp:revision>
  <dcterms:created xsi:type="dcterms:W3CDTF">2026-05-09T20:12:52Z</dcterms:created>
  <dcterms:modified xsi:type="dcterms:W3CDTF">2026-05-09T20:12:52Z</dcterms:modified>
</cp:coreProperties>
</file>