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8" r:id="rId20"/>
    <p:sldId id="273" r:id="rId21"/>
    <p:sldId id="274" r:id="rId22"/>
    <p:sldId id="275" r:id="rId23"/>
    <p:sldId id="276" r:id="rId24"/>
    <p:sldId id="27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24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edictive-project03-ug6mfxcp9ag8rssuuqvt27.streamlit.app/" TargetMode="Externa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4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27.png"/><Relationship Id="rId9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D47A1">
              <a:alpha val="3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82880"/>
            <a:ext cx="1828800" cy="1828800"/>
          </a:xfrm>
          <a:prstGeom prst="ellipse">
            <a:avLst/>
          </a:prstGeom>
          <a:solidFill>
            <a:srgbClr val="00BCD4">
              <a:alpha val="3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0D47A1">
              <a:alpha val="28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74320" y="4023360"/>
            <a:ext cx="1280160" cy="1280160"/>
          </a:xfrm>
          <a:prstGeom prst="ellipse">
            <a:avLst/>
          </a:prstGeom>
          <a:solidFill>
            <a:srgbClr val="00BCD4">
              <a:alpha val="40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7472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Safe Drinking Prediction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1463040" y="2633472"/>
            <a:ext cx="6217920" cy="530352"/>
          </a:xfrm>
          <a:prstGeom prst="rect">
            <a:avLst/>
          </a:prstGeom>
          <a:solidFill>
            <a:srgbClr val="0D47A1">
              <a:alpha val="8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1463040" y="2633472"/>
            <a:ext cx="62179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Real-Time ML-Based Water Potability Prediction System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337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5808" y="3337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Ananthan S   |   Muhammed Shahid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" y="3858768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 —  Academic Year 2025–26  |  Group Project 03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5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 |  Water Quality Classification  |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097280"/>
            <a:ext cx="2029968" cy="12618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2029968" cy="91440"/>
          </a:xfrm>
          <a:prstGeom prst="rect">
            <a:avLst/>
          </a:prstGeom>
          <a:solidFill>
            <a:srgbClr val="FF1744"/>
          </a:solidFill>
        </p:spPr>
      </p:sp>
      <p:sp>
        <p:nvSpPr>
          <p:cNvPr id="10" name="Text 7"/>
          <p:cNvSpPr/>
          <p:nvPr/>
        </p:nvSpPr>
        <p:spPr>
          <a:xfrm>
            <a:off x="274320" y="1188720"/>
            <a:ext cx="20299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17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2B+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47472" y="1737360"/>
            <a:ext cx="18836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lack safe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drinking water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41448" y="1097280"/>
            <a:ext cx="2029968" cy="12618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41448" y="1097280"/>
            <a:ext cx="2029968" cy="91440"/>
          </a:xfrm>
          <a:prstGeom prst="rect">
            <a:avLst/>
          </a:prstGeom>
          <a:solidFill>
            <a:srgbClr val="FFD600"/>
          </a:solidFill>
        </p:spPr>
      </p:sp>
      <p:sp>
        <p:nvSpPr>
          <p:cNvPr id="14" name="Text 11"/>
          <p:cNvSpPr/>
          <p:nvPr/>
        </p:nvSpPr>
        <p:spPr>
          <a:xfrm>
            <a:off x="2441448" y="1188720"/>
            <a:ext cx="20299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24–72h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514600" y="1737360"/>
            <a:ext cx="18836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testing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turnaround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08576" y="1097280"/>
            <a:ext cx="2029968" cy="12618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08576" y="1097280"/>
            <a:ext cx="2029968" cy="9144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8" name="Text 15"/>
          <p:cNvSpPr/>
          <p:nvPr/>
        </p:nvSpPr>
        <p:spPr>
          <a:xfrm>
            <a:off x="4608576" y="1188720"/>
            <a:ext cx="20299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3.4M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681728" y="1737360"/>
            <a:ext cx="18836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Deaths/year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water-related diseases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75704" y="1097280"/>
            <a:ext cx="2029968" cy="12618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75704" y="1097280"/>
            <a:ext cx="2029968" cy="91440"/>
          </a:xfrm>
          <a:prstGeom prst="rect">
            <a:avLst/>
          </a:prstGeom>
          <a:solidFill>
            <a:srgbClr val="00E5FF"/>
          </a:solidFill>
        </p:spPr>
      </p:sp>
      <p:sp>
        <p:nvSpPr>
          <p:cNvPr id="22" name="Text 19"/>
          <p:cNvSpPr/>
          <p:nvPr/>
        </p:nvSpPr>
        <p:spPr>
          <a:xfrm>
            <a:off x="6775704" y="1188720"/>
            <a:ext cx="202996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~0%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6848856" y="1737360"/>
            <a:ext cx="18836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solutions deployed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2514600"/>
            <a:ext cx="8595360" cy="53035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514600"/>
            <a:ext cx="91440" cy="530352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96896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32688" y="255117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Crisis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32688" y="2788920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(2023): 2 billion people still lack access to safely managed drinking water.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099816"/>
            <a:ext cx="8595360" cy="53035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74320" y="3099816"/>
            <a:ext cx="91440" cy="530352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2112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32688" y="313639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Detection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932688" y="3374136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lab testing takes 24–72 hours — too slow for contamination events.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274320" y="3685032"/>
            <a:ext cx="8595360" cy="53035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274320" y="3685032"/>
            <a:ext cx="91440" cy="530352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67328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32688" y="37216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Solution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932688" y="3959352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classifies water potability from 9 chemical properties in milliseconds.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274320" y="4270248"/>
            <a:ext cx="8595360" cy="53035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74320" y="4270248"/>
            <a:ext cx="91440" cy="530352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52544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32688" y="430682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Health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32688" y="4544568"/>
            <a:ext cx="7772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Accurate, interpretable predictions help engineers act on specific contaminants instantly.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5" name="Text 3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4160520" cy="3602736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4160520" cy="420624"/>
          </a:xfrm>
          <a:prstGeom prst="rect">
            <a:avLst/>
          </a:prstGeom>
          <a:solidFill>
            <a:srgbClr val="FF1744"/>
          </a:solidFill>
        </p:spPr>
      </p:sp>
      <p:sp>
        <p:nvSpPr>
          <p:cNvPr id="9" name="Text 6"/>
          <p:cNvSpPr/>
          <p:nvPr/>
        </p:nvSpPr>
        <p:spPr>
          <a:xfrm>
            <a:off x="274320" y="1097280"/>
            <a:ext cx="41605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 Current Challenges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" y="1609344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1" name="Text 8"/>
          <p:cNvSpPr/>
          <p:nvPr/>
        </p:nvSpPr>
        <p:spPr>
          <a:xfrm>
            <a:off x="475488" y="1609344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Lab testing takes 24–72 hours to return results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4048" y="2121408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3" name="Text 10"/>
          <p:cNvSpPr/>
          <p:nvPr/>
        </p:nvSpPr>
        <p:spPr>
          <a:xfrm>
            <a:off x="475488" y="2121408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High cost — not accessible in rural / low-income regions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4048" y="2633472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5" name="Text 12"/>
          <p:cNvSpPr/>
          <p:nvPr/>
        </p:nvSpPr>
        <p:spPr>
          <a:xfrm>
            <a:off x="475488" y="2633472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real-time classification or automated alerts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84048" y="3145536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7" name="Text 14"/>
          <p:cNvSpPr/>
          <p:nvPr/>
        </p:nvSpPr>
        <p:spPr>
          <a:xfrm>
            <a:off x="475488" y="3145536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No explainability — engineers can't pinpoint contaminants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84048" y="3657600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9" name="Text 16"/>
          <p:cNvSpPr/>
          <p:nvPr/>
        </p:nvSpPr>
        <p:spPr>
          <a:xfrm>
            <a:off x="475488" y="3657600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Class imbalance in data skews naive ML models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709160" y="1097280"/>
            <a:ext cx="4160520" cy="3602736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097280"/>
            <a:ext cx="4160520" cy="420624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2" name="Text 19"/>
          <p:cNvSpPr/>
          <p:nvPr/>
        </p:nvSpPr>
        <p:spPr>
          <a:xfrm>
            <a:off x="4709160" y="1097280"/>
            <a:ext cx="41605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Our Solution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18888" y="1609344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24" name="Text 21"/>
          <p:cNvSpPr/>
          <p:nvPr/>
        </p:nvSpPr>
        <p:spPr>
          <a:xfrm>
            <a:off x="4910328" y="1609344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ML inference in milliseconds — real-time classification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818888" y="2121408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26" name="Text 23"/>
          <p:cNvSpPr/>
          <p:nvPr/>
        </p:nvSpPr>
        <p:spPr>
          <a:xfrm>
            <a:off x="4910328" y="2121408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Open-source pipeline accessible to all regions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18888" y="2633472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28" name="Text 25"/>
          <p:cNvSpPr/>
          <p:nvPr/>
        </p:nvSpPr>
        <p:spPr>
          <a:xfrm>
            <a:off x="4910328" y="2633472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Streamlit web app with interactive live predictions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818888" y="3145536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30" name="Text 27"/>
          <p:cNvSpPr/>
          <p:nvPr/>
        </p:nvSpPr>
        <p:spPr>
          <a:xfrm>
            <a:off x="4910328" y="3145536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SHAP explainability highlights root-cause contaminants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818888" y="3657600"/>
            <a:ext cx="3931920" cy="438912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32" name="Text 29"/>
          <p:cNvSpPr/>
          <p:nvPr/>
        </p:nvSpPr>
        <p:spPr>
          <a:xfrm>
            <a:off x="4910328" y="3657600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SMOTE balancing ensures fair, unbiased model training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206240" y="25603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5" name="Text 3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143000"/>
            <a:ext cx="4206240" cy="117043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43000"/>
            <a:ext cx="4206240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0" name="Shape 7"/>
          <p:cNvSpPr/>
          <p:nvPr/>
        </p:nvSpPr>
        <p:spPr>
          <a:xfrm>
            <a:off x="402336" y="1380744"/>
            <a:ext cx="621792" cy="62179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1234440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Potability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15568" y="1554480"/>
            <a:ext cx="323697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water samples as Potable or Non-Potable from 9 physicochemical parameters.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1143000"/>
            <a:ext cx="4206240" cy="117043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1143000"/>
            <a:ext cx="4206240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6" name="Shape 12"/>
          <p:cNvSpPr/>
          <p:nvPr/>
        </p:nvSpPr>
        <p:spPr>
          <a:xfrm>
            <a:off x="4837176" y="1380744"/>
            <a:ext cx="621792" cy="62179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4173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50408" y="1234440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550408" y="1554480"/>
            <a:ext cx="323697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pipeline: preprocessing → EDA → feature engineering → SMOTE → training → evaluation.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404872"/>
            <a:ext cx="4206240" cy="117043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404872"/>
            <a:ext cx="4206240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2" name="Shape 17"/>
          <p:cNvSpPr/>
          <p:nvPr/>
        </p:nvSpPr>
        <p:spPr>
          <a:xfrm>
            <a:off x="402336" y="2642616"/>
            <a:ext cx="621792" cy="62179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679192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2496312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Class Imbalance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15568" y="2816352"/>
            <a:ext cx="323697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SMOTE oversampling to balance 61% Non-Potable vs 39% Potable class distribution.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09160" y="2404872"/>
            <a:ext cx="4206240" cy="117043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09160" y="2404872"/>
            <a:ext cx="4206240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8" name="Shape 22"/>
          <p:cNvSpPr/>
          <p:nvPr/>
        </p:nvSpPr>
        <p:spPr>
          <a:xfrm>
            <a:off x="4837176" y="2642616"/>
            <a:ext cx="621792" cy="62179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679192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550408" y="2496312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550408" y="2816352"/>
            <a:ext cx="323697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predictions interpretable — identify which features drive each potability decision.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74320" y="3666744"/>
            <a:ext cx="4206240" cy="117043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74320" y="3666744"/>
            <a:ext cx="4206240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4" name="Shape 27"/>
          <p:cNvSpPr/>
          <p:nvPr/>
        </p:nvSpPr>
        <p:spPr>
          <a:xfrm>
            <a:off x="402336" y="3904488"/>
            <a:ext cx="621792" cy="62179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3941064"/>
            <a:ext cx="548640" cy="5486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15568" y="3758184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Deployment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115568" y="4078224"/>
            <a:ext cx="323697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a live interactive web app with sliders, WQI score, and probability output.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709160" y="3666744"/>
            <a:ext cx="4206240" cy="117043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709160" y="3666744"/>
            <a:ext cx="4206240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40" name="Shape 32"/>
          <p:cNvSpPr/>
          <p:nvPr/>
        </p:nvSpPr>
        <p:spPr>
          <a:xfrm>
            <a:off x="4837176" y="3904488"/>
            <a:ext cx="621792" cy="62179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752" y="3941064"/>
            <a:ext cx="548640" cy="54864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550408" y="3758184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Sensor Simulation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5550408" y="4078224"/>
            <a:ext cx="323697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 real-time sensor monitoring with continuous inference and confidence scores.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2011680" cy="877824"/>
          </a:xfrm>
          <a:prstGeom prst="rect">
            <a:avLst/>
          </a:prstGeom>
          <a:solidFill>
            <a:srgbClr val="0D47A1">
              <a:alpha val="90000"/>
            </a:srgbClr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1078992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3,276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9184" y="1536192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41448" y="1078992"/>
            <a:ext cx="2011680" cy="877824"/>
          </a:xfrm>
          <a:prstGeom prst="rect">
            <a:avLst/>
          </a:prstGeom>
          <a:solidFill>
            <a:srgbClr val="00897B">
              <a:alpha val="90000"/>
            </a:srgbClr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41448" y="1078992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96312" y="1536192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08576" y="1078992"/>
            <a:ext cx="2011680" cy="877824"/>
          </a:xfrm>
          <a:prstGeom prst="rect">
            <a:avLst/>
          </a:prstGeom>
          <a:solidFill>
            <a:srgbClr val="00C853">
              <a:alpha val="90000"/>
            </a:srgbClr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08576" y="1078992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1,278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4663440" y="1536192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Potable (39%)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75704" y="1078992"/>
            <a:ext cx="2011680" cy="877824"/>
          </a:xfrm>
          <a:prstGeom prst="rect">
            <a:avLst/>
          </a:prstGeom>
          <a:solidFill>
            <a:srgbClr val="E53935">
              <a:alpha val="90000"/>
            </a:srgbClr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75704" y="1078992"/>
            <a:ext cx="20116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1,998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830568" y="1536192"/>
            <a:ext cx="19019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Non-Potable (61%)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" y="2084832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Details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274320" y="2432304"/>
          <a:ext cx="5486400" cy="2377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WHO Range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pH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6.5 – 8.5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15.0%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Hardness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mg/L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300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Solids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ppm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500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Chloramines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ppm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4.0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Sulfate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mg/L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250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23.8% ⚠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Conductivity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μS/cm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400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Organic Carbon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ppm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2.0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Trihalomethanes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μg/L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&lt; 80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37E"/>
                          </a:solidFill>
                        </a:rPr>
                        <a:t>4.9%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Turbidity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NTU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&lt; 1.0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47A1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035040" y="208483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035040" y="2450592"/>
            <a:ext cx="2834640" cy="530352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23" name="Text 19"/>
          <p:cNvSpPr/>
          <p:nvPr/>
        </p:nvSpPr>
        <p:spPr>
          <a:xfrm>
            <a:off x="6035040" y="2450592"/>
            <a:ext cx="28346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Non-Potable: 61%  (1,998 samples)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35040" y="3035808"/>
            <a:ext cx="2834640" cy="347472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5" name="Text 21"/>
          <p:cNvSpPr/>
          <p:nvPr/>
        </p:nvSpPr>
        <p:spPr>
          <a:xfrm>
            <a:off x="6035040" y="3035808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Potable: 39%  (1,278 samples)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035040" y="3456432"/>
            <a:ext cx="2834640" cy="1316736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126480" y="3511296"/>
            <a:ext cx="2651760" cy="12070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Kaggle Water Potability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— 3,276 samples × 10 cols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Potability (0 = Not Safe,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= Safe to drink)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9" name="Text 25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Dataset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Used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56032" y="1078992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78992"/>
            <a:ext cx="2798064" cy="438912"/>
          </a:xfrm>
          <a:prstGeom prst="rect">
            <a:avLst/>
          </a:prstGeom>
          <a:solidFill>
            <a:srgbClr val="0288D1"/>
          </a:solidFill>
        </p:spPr>
      </p:sp>
      <p:sp>
        <p:nvSpPr>
          <p:cNvPr id="10" name="Shape 7"/>
          <p:cNvSpPr/>
          <p:nvPr/>
        </p:nvSpPr>
        <p:spPr>
          <a:xfrm>
            <a:off x="347472" y="1152144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347472" y="11521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" y="1152144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" y="15910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6.5 – 8.5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1828800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Acid/alkalinity balance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0" y="1078992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078992"/>
            <a:ext cx="2798064" cy="438912"/>
          </a:xfrm>
          <a:prstGeom prst="rect">
            <a:avLst/>
          </a:prstGeom>
          <a:solidFill>
            <a:srgbClr val="00838F"/>
          </a:solidFill>
        </p:spPr>
      </p:sp>
      <p:sp>
        <p:nvSpPr>
          <p:cNvPr id="17" name="Shape 14"/>
          <p:cNvSpPr/>
          <p:nvPr/>
        </p:nvSpPr>
        <p:spPr>
          <a:xfrm>
            <a:off x="3291840" y="1152144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3291840" y="11521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0" y="1152144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Hardness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291840" y="15910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300 mg/L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91840" y="1828800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Dissolved minerals (Ca, Mg)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4768" y="1078992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144768" y="1078992"/>
            <a:ext cx="2798064" cy="438912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4" name="Shape 21"/>
          <p:cNvSpPr/>
          <p:nvPr/>
        </p:nvSpPr>
        <p:spPr>
          <a:xfrm>
            <a:off x="6236208" y="1152144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6236208" y="115214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01968" y="1152144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Solids (TDS)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36208" y="1591056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500 ppm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36208" y="1828800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dissolved solids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56032" y="2377440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" y="2377440"/>
            <a:ext cx="2798064" cy="438912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31" name="Shape 28"/>
          <p:cNvSpPr/>
          <p:nvPr/>
        </p:nvSpPr>
        <p:spPr>
          <a:xfrm>
            <a:off x="347472" y="245059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347472" y="24505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13232" y="245059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Chloramines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47472" y="2889504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4.0 ppm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47472" y="3127248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Disinfectant residual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200400" y="2377440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200400" y="2377440"/>
            <a:ext cx="2798064" cy="438912"/>
          </a:xfrm>
          <a:prstGeom prst="rect">
            <a:avLst/>
          </a:prstGeom>
          <a:solidFill>
            <a:srgbClr val="01579B"/>
          </a:solidFill>
        </p:spPr>
      </p:sp>
      <p:sp>
        <p:nvSpPr>
          <p:cNvPr id="38" name="Shape 35"/>
          <p:cNvSpPr/>
          <p:nvPr/>
        </p:nvSpPr>
        <p:spPr>
          <a:xfrm>
            <a:off x="3291840" y="245059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39" name="Text 36"/>
          <p:cNvSpPr/>
          <p:nvPr/>
        </p:nvSpPr>
        <p:spPr>
          <a:xfrm>
            <a:off x="3291840" y="24505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657600" y="245059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Sulfate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291840" y="2889504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250 mg/L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291840" y="3127248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Chemical compound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144768" y="2377440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144768" y="2377440"/>
            <a:ext cx="2798064" cy="438912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45" name="Shape 42"/>
          <p:cNvSpPr/>
          <p:nvPr/>
        </p:nvSpPr>
        <p:spPr>
          <a:xfrm>
            <a:off x="6236208" y="2450592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6236208" y="24505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6601968" y="2450592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Conductivity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6236208" y="2889504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400 μS/cm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236208" y="3127248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Ionic conductivity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56032" y="3675888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256032" y="3675888"/>
            <a:ext cx="2798064" cy="438912"/>
          </a:xfrm>
          <a:prstGeom prst="rect">
            <a:avLst/>
          </a:prstGeom>
          <a:solidFill>
            <a:srgbClr val="0277BD"/>
          </a:solidFill>
        </p:spPr>
      </p:sp>
      <p:sp>
        <p:nvSpPr>
          <p:cNvPr id="52" name="Shape 49"/>
          <p:cNvSpPr/>
          <p:nvPr/>
        </p:nvSpPr>
        <p:spPr>
          <a:xfrm>
            <a:off x="347472" y="374904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53" name="Text 50"/>
          <p:cNvSpPr/>
          <p:nvPr/>
        </p:nvSpPr>
        <p:spPr>
          <a:xfrm>
            <a:off x="347472" y="37490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13232" y="374904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Organic Carbon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347472" y="4187952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2.0 ppm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347472" y="4425696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Organic matter content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3200400" y="3675888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3200400" y="3675888"/>
            <a:ext cx="2798064" cy="438912"/>
          </a:xfrm>
          <a:prstGeom prst="rect">
            <a:avLst/>
          </a:prstGeom>
          <a:solidFill>
            <a:srgbClr val="00796B"/>
          </a:solidFill>
        </p:spPr>
      </p:sp>
      <p:sp>
        <p:nvSpPr>
          <p:cNvPr id="59" name="Shape 56"/>
          <p:cNvSpPr/>
          <p:nvPr/>
        </p:nvSpPr>
        <p:spPr>
          <a:xfrm>
            <a:off x="3291840" y="374904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60" name="Text 57"/>
          <p:cNvSpPr/>
          <p:nvPr/>
        </p:nvSpPr>
        <p:spPr>
          <a:xfrm>
            <a:off x="3291840" y="37490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3657600" y="374904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Trihalomethanes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3291840" y="4187952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80 μg/L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3291840" y="4425696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Chlorination by-products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6144768" y="3675888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6144768" y="3675888"/>
            <a:ext cx="2798064" cy="438912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66" name="Shape 63"/>
          <p:cNvSpPr/>
          <p:nvPr/>
        </p:nvSpPr>
        <p:spPr>
          <a:xfrm>
            <a:off x="6236208" y="3749040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id="67" name="Text 64"/>
          <p:cNvSpPr/>
          <p:nvPr/>
        </p:nvSpPr>
        <p:spPr>
          <a:xfrm>
            <a:off x="6236208" y="37490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6601968" y="3749040"/>
            <a:ext cx="2267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Turbidity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6236208" y="4187952"/>
            <a:ext cx="261518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WHO: &lt; 1.0 NTU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6236208" y="4425696"/>
            <a:ext cx="261518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clarity/cloudiness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72" name="Text 69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Workflow  —  End-to-End Pipeline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56032" y="1115568"/>
            <a:ext cx="859536" cy="1280160"/>
          </a:xfrm>
          <a:prstGeom prst="rect">
            <a:avLst/>
          </a:prstGeom>
          <a:solidFill>
            <a:srgbClr val="1565C0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10" name="Text 7"/>
          <p:cNvSpPr/>
          <p:nvPr/>
        </p:nvSpPr>
        <p:spPr>
          <a:xfrm>
            <a:off x="841248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243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92608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CSV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124712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188720" y="1115568"/>
            <a:ext cx="859536" cy="1280160"/>
          </a:xfrm>
          <a:prstGeom prst="rect">
            <a:avLst/>
          </a:prstGeom>
          <a:solidFill>
            <a:srgbClr val="006064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773936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17" name="Text 13"/>
          <p:cNvSpPr/>
          <p:nvPr/>
        </p:nvSpPr>
        <p:spPr>
          <a:xfrm>
            <a:off x="1773936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" y="12435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25296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225296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Impute / Scale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057400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121408" y="1115568"/>
            <a:ext cx="859536" cy="1280160"/>
          </a:xfrm>
          <a:prstGeom prst="rect">
            <a:avLst/>
          </a:prstGeom>
          <a:solidFill>
            <a:srgbClr val="0277BD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06624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24" name="Text 19"/>
          <p:cNvSpPr/>
          <p:nvPr/>
        </p:nvSpPr>
        <p:spPr>
          <a:xfrm>
            <a:off x="2706624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124358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57984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2157984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&amp; Plot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2990088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054096" y="1115568"/>
            <a:ext cx="859536" cy="1280160"/>
          </a:xfrm>
          <a:prstGeom prst="rect">
            <a:avLst/>
          </a:prstGeom>
          <a:solidFill>
            <a:srgbClr val="00695C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639312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31" name="Text 25"/>
          <p:cNvSpPr/>
          <p:nvPr/>
        </p:nvSpPr>
        <p:spPr>
          <a:xfrm>
            <a:off x="3639312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408" y="1243584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090672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090672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WQI · pH_safe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3922776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986784" y="1115568"/>
            <a:ext cx="859536" cy="1280160"/>
          </a:xfrm>
          <a:prstGeom prst="rect">
            <a:avLst/>
          </a:prstGeom>
          <a:solidFill>
            <a:srgbClr val="1976D2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572000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38" name="Text 31"/>
          <p:cNvSpPr/>
          <p:nvPr/>
        </p:nvSpPr>
        <p:spPr>
          <a:xfrm>
            <a:off x="4572000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7096" y="1243584"/>
            <a:ext cx="438912" cy="43891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023360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023360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Classes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4855464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4919472" y="1115568"/>
            <a:ext cx="859536" cy="1280160"/>
          </a:xfrm>
          <a:prstGeom prst="rect">
            <a:avLst/>
          </a:prstGeom>
          <a:solidFill>
            <a:srgbClr val="00838F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5504688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45" name="Text 37"/>
          <p:cNvSpPr/>
          <p:nvPr/>
        </p:nvSpPr>
        <p:spPr>
          <a:xfrm>
            <a:off x="5504688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9784" y="1243584"/>
            <a:ext cx="438912" cy="43891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4956048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Training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4956048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 / SVM / XGB</a:t>
            </a:r>
            <a:endParaRPr lang="en-US" sz="950" dirty="0"/>
          </a:p>
        </p:txBody>
      </p:sp>
      <p:sp>
        <p:nvSpPr>
          <p:cNvPr id="49" name="Text 40"/>
          <p:cNvSpPr/>
          <p:nvPr/>
        </p:nvSpPr>
        <p:spPr>
          <a:xfrm>
            <a:off x="5788152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5852160" y="1115568"/>
            <a:ext cx="859536" cy="1280160"/>
          </a:xfrm>
          <a:prstGeom prst="rect">
            <a:avLst/>
          </a:prstGeom>
          <a:solidFill>
            <a:srgbClr val="01579B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6437376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52" name="Text 43"/>
          <p:cNvSpPr/>
          <p:nvPr/>
        </p:nvSpPr>
        <p:spPr>
          <a:xfrm>
            <a:off x="6437376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2472" y="1243584"/>
            <a:ext cx="438912" cy="438912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888736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5888736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 · F1 · ROC</a:t>
            </a:r>
            <a:endParaRPr lang="en-US" sz="950" dirty="0"/>
          </a:p>
        </p:txBody>
      </p:sp>
      <p:sp>
        <p:nvSpPr>
          <p:cNvPr id="56" name="Text 46"/>
          <p:cNvSpPr/>
          <p:nvPr/>
        </p:nvSpPr>
        <p:spPr>
          <a:xfrm>
            <a:off x="6720840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6784848" y="1115568"/>
            <a:ext cx="859536" cy="1280160"/>
          </a:xfrm>
          <a:prstGeom prst="rect">
            <a:avLst/>
          </a:prstGeom>
          <a:solidFill>
            <a:srgbClr val="006064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8" name="Shape 48"/>
          <p:cNvSpPr/>
          <p:nvPr/>
        </p:nvSpPr>
        <p:spPr>
          <a:xfrm>
            <a:off x="7370064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59" name="Text 49"/>
          <p:cNvSpPr/>
          <p:nvPr/>
        </p:nvSpPr>
        <p:spPr>
          <a:xfrm>
            <a:off x="7370064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5160" y="1243584"/>
            <a:ext cx="438912" cy="438912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6821424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6821424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950" dirty="0"/>
          </a:p>
        </p:txBody>
      </p:sp>
      <p:sp>
        <p:nvSpPr>
          <p:cNvPr id="63" name="Text 52"/>
          <p:cNvSpPr/>
          <p:nvPr/>
        </p:nvSpPr>
        <p:spPr>
          <a:xfrm>
            <a:off x="7653528" y="1645920"/>
            <a:ext cx="91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64" name="Shape 53"/>
          <p:cNvSpPr/>
          <p:nvPr/>
        </p:nvSpPr>
        <p:spPr>
          <a:xfrm>
            <a:off x="7717536" y="1115568"/>
            <a:ext cx="859536" cy="1280160"/>
          </a:xfrm>
          <a:prstGeom prst="rect">
            <a:avLst/>
          </a:prstGeom>
          <a:solidFill>
            <a:srgbClr val="0288D1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54"/>
          <p:cNvSpPr/>
          <p:nvPr/>
        </p:nvSpPr>
        <p:spPr>
          <a:xfrm>
            <a:off x="8302752" y="987552"/>
            <a:ext cx="274320" cy="274320"/>
          </a:xfrm>
          <a:prstGeom prst="ellipse">
            <a:avLst/>
          </a:prstGeom>
          <a:solidFill>
            <a:srgbClr val="FFD600"/>
          </a:solidFill>
        </p:spPr>
      </p:sp>
      <p:sp>
        <p:nvSpPr>
          <p:cNvPr id="66" name="Text 55"/>
          <p:cNvSpPr/>
          <p:nvPr/>
        </p:nvSpPr>
        <p:spPr>
          <a:xfrm>
            <a:off x="8302752" y="9875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7848" y="1243584"/>
            <a:ext cx="438912" cy="438912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7754112" y="1737360"/>
            <a:ext cx="7863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App</a:t>
            </a:r>
            <a:endParaRPr lang="en-US" sz="1050" dirty="0"/>
          </a:p>
        </p:txBody>
      </p:sp>
      <p:sp>
        <p:nvSpPr>
          <p:cNvPr id="69" name="Text 57"/>
          <p:cNvSpPr/>
          <p:nvPr/>
        </p:nvSpPr>
        <p:spPr>
          <a:xfrm>
            <a:off x="7754112" y="2048256"/>
            <a:ext cx="7863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Deployment</a:t>
            </a:r>
            <a:endParaRPr lang="en-US" sz="950" dirty="0"/>
          </a:p>
        </p:txBody>
      </p:sp>
      <p:sp>
        <p:nvSpPr>
          <p:cNvPr id="70" name="Shape 58"/>
          <p:cNvSpPr/>
          <p:nvPr/>
        </p:nvSpPr>
        <p:spPr>
          <a:xfrm>
            <a:off x="256032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71" name="Text 59"/>
          <p:cNvSpPr/>
          <p:nvPr/>
        </p:nvSpPr>
        <p:spPr>
          <a:xfrm>
            <a:off x="292608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water_potability.csv</a:t>
            </a:r>
            <a:endParaRPr lang="en-US" sz="900" dirty="0"/>
          </a:p>
        </p:txBody>
      </p:sp>
      <p:sp>
        <p:nvSpPr>
          <p:cNvPr id="72" name="Shape 60"/>
          <p:cNvSpPr/>
          <p:nvPr/>
        </p:nvSpPr>
        <p:spPr>
          <a:xfrm>
            <a:off x="1188720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73" name="Text 61"/>
          <p:cNvSpPr/>
          <p:nvPr/>
        </p:nvSpPr>
        <p:spPr>
          <a:xfrm>
            <a:off x="1225296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Group-wise median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Winsorization</a:t>
            </a:r>
            <a:endParaRPr lang="en-US" sz="900" dirty="0"/>
          </a:p>
        </p:txBody>
      </p:sp>
      <p:sp>
        <p:nvSpPr>
          <p:cNvPr id="74" name="Shape 62"/>
          <p:cNvSpPr/>
          <p:nvPr/>
        </p:nvSpPr>
        <p:spPr>
          <a:xfrm>
            <a:off x="2121408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75" name="Text 63"/>
          <p:cNvSpPr/>
          <p:nvPr/>
        </p:nvSpPr>
        <p:spPr>
          <a:xfrm>
            <a:off x="2157984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Heatmaps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Boxplots</a:t>
            </a:r>
            <a:endParaRPr lang="en-US" sz="900" dirty="0"/>
          </a:p>
        </p:txBody>
      </p:sp>
      <p:sp>
        <p:nvSpPr>
          <p:cNvPr id="76" name="Shape 64"/>
          <p:cNvSpPr/>
          <p:nvPr/>
        </p:nvSpPr>
        <p:spPr>
          <a:xfrm>
            <a:off x="3054096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77" name="Text 65"/>
          <p:cNvSpPr/>
          <p:nvPr/>
        </p:nvSpPr>
        <p:spPr>
          <a:xfrm>
            <a:off x="3090672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WQI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pH_safe flag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Hard/Cond ratio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3986784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79" name="Text 67"/>
          <p:cNvSpPr/>
          <p:nvPr/>
        </p:nvSpPr>
        <p:spPr>
          <a:xfrm>
            <a:off x="4023360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minority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over-sampling</a:t>
            </a:r>
            <a:endParaRPr lang="en-US" sz="900" dirty="0"/>
          </a:p>
        </p:txBody>
      </p:sp>
      <p:sp>
        <p:nvSpPr>
          <p:cNvPr id="80" name="Shape 68"/>
          <p:cNvSpPr/>
          <p:nvPr/>
        </p:nvSpPr>
        <p:spPr>
          <a:xfrm>
            <a:off x="4919472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81" name="Text 69"/>
          <p:cNvSpPr/>
          <p:nvPr/>
        </p:nvSpPr>
        <p:spPr>
          <a:xfrm>
            <a:off x="4956048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 200 trees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RBF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300</a:t>
            </a:r>
            <a:endParaRPr lang="en-US" sz="900" dirty="0"/>
          </a:p>
        </p:txBody>
      </p:sp>
      <p:sp>
        <p:nvSpPr>
          <p:cNvPr id="82" name="Shape 70"/>
          <p:cNvSpPr/>
          <p:nvPr/>
        </p:nvSpPr>
        <p:spPr>
          <a:xfrm>
            <a:off x="5852160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83" name="Text 71"/>
          <p:cNvSpPr/>
          <p:nvPr/>
        </p:nvSpPr>
        <p:spPr>
          <a:xfrm>
            <a:off x="5888736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/ 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900" dirty="0"/>
          </a:p>
        </p:txBody>
      </p:sp>
      <p:sp>
        <p:nvSpPr>
          <p:cNvPr id="84" name="Shape 72"/>
          <p:cNvSpPr/>
          <p:nvPr/>
        </p:nvSpPr>
        <p:spPr>
          <a:xfrm>
            <a:off x="6784848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85" name="Text 73"/>
          <p:cNvSpPr/>
          <p:nvPr/>
        </p:nvSpPr>
        <p:spPr>
          <a:xfrm>
            <a:off x="6821424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Beeswarm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Waterfall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plot</a:t>
            </a:r>
            <a:endParaRPr lang="en-US" sz="900" dirty="0"/>
          </a:p>
        </p:txBody>
      </p:sp>
      <p:sp>
        <p:nvSpPr>
          <p:cNvPr id="86" name="Shape 74"/>
          <p:cNvSpPr/>
          <p:nvPr/>
        </p:nvSpPr>
        <p:spPr>
          <a:xfrm>
            <a:off x="7717536" y="2487168"/>
            <a:ext cx="859536" cy="100584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87" name="Text 75"/>
          <p:cNvSpPr/>
          <p:nvPr/>
        </p:nvSpPr>
        <p:spPr>
          <a:xfrm>
            <a:off x="7754112" y="250545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UI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score</a:t>
            </a:r>
            <a:endParaRPr lang="en-US" sz="900" dirty="0"/>
          </a:p>
        </p:txBody>
      </p:sp>
      <p:sp>
        <p:nvSpPr>
          <p:cNvPr id="88" name="Text 76"/>
          <p:cNvSpPr/>
          <p:nvPr/>
        </p:nvSpPr>
        <p:spPr>
          <a:xfrm>
            <a:off x="274320" y="3566160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stage feeds the next — a complete data science life cycle across 10 structured phases</a:t>
            </a:r>
            <a:endParaRPr lang="en-US" sz="1150" dirty="0"/>
          </a:p>
        </p:txBody>
      </p:sp>
      <p:sp>
        <p:nvSpPr>
          <p:cNvPr id="89" name="Shape 7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90" name="Text 7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1225296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128016" cy="1225296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9" name="Shape 6"/>
          <p:cNvSpPr/>
          <p:nvPr/>
        </p:nvSpPr>
        <p:spPr>
          <a:xfrm>
            <a:off x="475488" y="1371600"/>
            <a:ext cx="566928" cy="566928"/>
          </a:xfrm>
          <a:prstGeom prst="ellipse">
            <a:avLst/>
          </a:prstGeom>
          <a:solidFill>
            <a:srgbClr val="E53935">
              <a:alpha val="80000"/>
            </a:srgbClr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1408176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2144" y="1152144"/>
            <a:ext cx="7589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Missing Value Handling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52144" y="1499616"/>
            <a:ext cx="7589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ph: 491 missing (15.0%)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Sulfate: 781 missing (23.8%)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Trihalomethanes: 162 missing (4.9%)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Strategy: Group-wise median imputation by Potability class — preserves class signal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2395728"/>
            <a:ext cx="8595360" cy="1225296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2395728"/>
            <a:ext cx="128016" cy="1225296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5" name="Shape 11"/>
          <p:cNvSpPr/>
          <p:nvPr/>
        </p:nvSpPr>
        <p:spPr>
          <a:xfrm>
            <a:off x="475488" y="2688336"/>
            <a:ext cx="566928" cy="566928"/>
          </a:xfrm>
          <a:prstGeom prst="ellipse">
            <a:avLst/>
          </a:prstGeom>
          <a:solidFill>
            <a:srgbClr val="0D47A1">
              <a:alpha val="80000"/>
            </a:srgbClr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72491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52144" y="2468880"/>
            <a:ext cx="7589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Outlier Treatment (Winsorization)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52144" y="2816352"/>
            <a:ext cx="7589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IQR-based Winsorization (1.5× fence)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 extreme values — no rows removed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outlier skew in model training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74320" y="3712464"/>
            <a:ext cx="8595360" cy="1225296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3712464"/>
            <a:ext cx="128016" cy="1225296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1" name="Shape 16"/>
          <p:cNvSpPr/>
          <p:nvPr/>
        </p:nvSpPr>
        <p:spPr>
          <a:xfrm>
            <a:off x="475488" y="4005072"/>
            <a:ext cx="566928" cy="566928"/>
          </a:xfrm>
          <a:prstGeom prst="ellipse">
            <a:avLst/>
          </a:prstGeom>
          <a:solidFill>
            <a:srgbClr val="00897B">
              <a:alpha val="80000"/>
            </a:srgbClr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041648"/>
            <a:ext cx="493776" cy="49377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52144" y="3785616"/>
            <a:ext cx="7589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Feature Scaling — StandardScaler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52144" y="4133088"/>
            <a:ext cx="7589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Zero-mean, unit-variance normalization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after train/test split (no leakage)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equal feature weight in SVM &amp; others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6" name="Text 20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Data Preprocessing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115568"/>
            <a:ext cx="4206240" cy="17190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4206240" cy="457200"/>
          </a:xfrm>
          <a:prstGeom prst="rect">
            <a:avLst/>
          </a:prstGeom>
          <a:solidFill>
            <a:srgbClr val="1565C0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8872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" y="1188720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Distributions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2336" y="1664208"/>
            <a:ext cx="395020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Histogram + KDE per feature split by Potability class — reveals overlap, skewness and separation power of each parameter.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1728" y="1115568"/>
            <a:ext cx="4206240" cy="17190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81728" y="1115568"/>
            <a:ext cx="4206240" cy="457200"/>
          </a:xfrm>
          <a:prstGeom prst="rect">
            <a:avLst/>
          </a:prstGeom>
          <a:solidFill>
            <a:srgbClr val="006064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118872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1188720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Heatmap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09744" y="1664208"/>
            <a:ext cx="395020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12×12 Pearson correlation matrix of all engineered features. Identifies multicollinearity and inter-feature relationships.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74320" y="2962656"/>
            <a:ext cx="4206240" cy="17190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962656"/>
            <a:ext cx="4206240" cy="457200"/>
          </a:xfrm>
          <a:prstGeom prst="rect">
            <a:avLst/>
          </a:prstGeom>
          <a:solidFill>
            <a:srgbClr val="00695C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03580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6384" y="3035808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Boxplots by Class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02336" y="3511296"/>
            <a:ext cx="395020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Side-by-side boxplots for Potable vs Non-Potable — highlights median shifts and variance differences per feature.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1728" y="2962656"/>
            <a:ext cx="4206240" cy="1719072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81728" y="2962656"/>
            <a:ext cx="4206240" cy="457200"/>
          </a:xfrm>
          <a:prstGeom prst="rect">
            <a:avLst/>
          </a:prstGeom>
          <a:solidFill>
            <a:srgbClr val="0277BD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0358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93792" y="3035808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 Chart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809744" y="3511296"/>
            <a:ext cx="395020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+ pie visualisation of 61% Non-Potable vs 39% Potable imbalance — motivates use of SMOTE in next stage.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9" name="Text 2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157276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8595360" cy="438912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1155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078992"/>
            <a:ext cx="7955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Water Quality Index (WQI) — Composite Safety Score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02336" y="1554480"/>
            <a:ext cx="8229600" cy="10241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WQI  =  (pH/8.5 × 0.15) + ((1 − Turbidity/6.7) × 0.20) + ((1 − Chloramines/13.1) × 0.20)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+ ((1 − THMs/124) × 0.15) + ((1 − Solids/61227) × 0.15) + ((1 − Sulfate/481) × 0.15)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779776"/>
            <a:ext cx="4206240" cy="193852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2779776"/>
            <a:ext cx="4206240" cy="420624"/>
          </a:xfrm>
          <a:prstGeom prst="rect">
            <a:avLst/>
          </a:prstGeom>
          <a:solidFill>
            <a:srgbClr val="0D47A1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280720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2779776"/>
            <a:ext cx="3566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pH Safety Flag  (pH_safe)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02336" y="3255264"/>
            <a:ext cx="3950208" cy="1389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indicator: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→ pH ∈ [6.5, 8.5]  (WHO safe range)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→ pH outside safe range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directly by model as an interpretable feature.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81728" y="2779776"/>
            <a:ext cx="4206240" cy="193852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81728" y="2779776"/>
            <a:ext cx="4206240" cy="420624"/>
          </a:xfrm>
          <a:prstGeom prst="rect">
            <a:avLst/>
          </a:prstGeom>
          <a:solidFill>
            <a:srgbClr val="00897B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280720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2080" y="2779776"/>
            <a:ext cx="3566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Hardness / Conductivity Ratio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809744" y="3255264"/>
            <a:ext cx="3950208" cy="1389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Hard_Cond_ratio = Hardness ÷ Conductivity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mineral concentration relative to ion mobility.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an additional dimension not in raw features.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3" name="Text 17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Feature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— Handling Class Imbalance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115568"/>
            <a:ext cx="3931920" cy="3493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3931920" cy="438912"/>
          </a:xfrm>
          <a:prstGeom prst="rect">
            <a:avLst/>
          </a:prstGeom>
          <a:solidFill>
            <a:srgbClr val="FF1744"/>
          </a:solidFill>
        </p:spPr>
      </p:sp>
      <p:sp>
        <p:nvSpPr>
          <p:cNvPr id="10" name="Text 7"/>
          <p:cNvSpPr/>
          <p:nvPr/>
        </p:nvSpPr>
        <p:spPr>
          <a:xfrm>
            <a:off x="274320" y="1115568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SMOTE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664208"/>
            <a:ext cx="3566160" cy="475488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12" name="Text 9"/>
          <p:cNvSpPr/>
          <p:nvPr/>
        </p:nvSpPr>
        <p:spPr>
          <a:xfrm>
            <a:off x="457200" y="1664208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Non-Potable  61%  (1,998)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212848"/>
            <a:ext cx="2212848" cy="475488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14" name="Text 11"/>
          <p:cNvSpPr/>
          <p:nvPr/>
        </p:nvSpPr>
        <p:spPr>
          <a:xfrm>
            <a:off x="457200" y="2212848"/>
            <a:ext cx="221284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Potable  39%  (1,278)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2336" y="2834640"/>
            <a:ext cx="3694176" cy="1664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Skewed dataset — model biased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toward majority class (Non-Potable).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Naive accuracy misleading.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8A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Minority class (Potable) under-predicted.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60520" y="228600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60520" y="2596896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4937760" y="1115568"/>
            <a:ext cx="3931920" cy="3493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37760" y="1115568"/>
            <a:ext cx="3931920" cy="438912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0" name="Text 17"/>
          <p:cNvSpPr/>
          <p:nvPr/>
        </p:nvSpPr>
        <p:spPr>
          <a:xfrm>
            <a:off x="4937760" y="1115568"/>
            <a:ext cx="3931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SMOTE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120640" y="1664208"/>
            <a:ext cx="3566160" cy="475488"/>
          </a:xfrm>
          <a:prstGeom prst="rect">
            <a:avLst/>
          </a:prstGeom>
          <a:solidFill>
            <a:srgbClr val="E53935"/>
          </a:solidFill>
        </p:spPr>
      </p:sp>
      <p:sp>
        <p:nvSpPr>
          <p:cNvPr id="22" name="Text 19"/>
          <p:cNvSpPr/>
          <p:nvPr/>
        </p:nvSpPr>
        <p:spPr>
          <a:xfrm>
            <a:off x="5120640" y="1664208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Non-Potable  50%  (1,998)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120640" y="2212848"/>
            <a:ext cx="3566160" cy="475488"/>
          </a:xfrm>
          <a:prstGeom prst="rect">
            <a:avLst/>
          </a:prstGeom>
          <a:solidFill>
            <a:srgbClr val="00C853"/>
          </a:solidFill>
        </p:spPr>
      </p:sp>
      <p:sp>
        <p:nvSpPr>
          <p:cNvPr id="24" name="Text 21"/>
          <p:cNvSpPr/>
          <p:nvPr/>
        </p:nvSpPr>
        <p:spPr>
          <a:xfrm>
            <a:off x="5120640" y="2212848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Potable  50%  (1,998 synthetic)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65776" y="2834640"/>
            <a:ext cx="3694176" cy="16642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Balanced training set — model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both classes equally.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applied only on training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(no leakage into test set).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7" name="Text 24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Models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56032" y="1078992"/>
            <a:ext cx="2798064" cy="376732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56032" y="1078992"/>
            <a:ext cx="2798064" cy="548640"/>
          </a:xfrm>
          <a:prstGeom prst="rect">
            <a:avLst/>
          </a:prstGeom>
          <a:solidFill>
            <a:srgbClr val="1565C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1115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824" y="1097280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77824" y="1371600"/>
            <a:ext cx="2084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Ensemble Bagging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1700784"/>
            <a:ext cx="2578608" cy="768096"/>
          </a:xfrm>
          <a:prstGeom prst="rect">
            <a:avLst/>
          </a:prstGeom>
          <a:solidFill>
            <a:srgbClr val="0D2A47"/>
          </a:solidFill>
        </p:spPr>
      </p:sp>
      <p:sp>
        <p:nvSpPr>
          <p:cNvPr id="13" name="Text 9"/>
          <p:cNvSpPr/>
          <p:nvPr/>
        </p:nvSpPr>
        <p:spPr>
          <a:xfrm>
            <a:off x="420624" y="173736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200 estimators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max_depth = 12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5-fold stratified CV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84048" y="256032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Strengths: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84048" y="2834640"/>
            <a:ext cx="254203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to outliers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 built-in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non-linear boundaries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variance via bagging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00400" y="1078992"/>
            <a:ext cx="2798064" cy="376732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0" y="1078992"/>
            <a:ext cx="2798064" cy="548640"/>
          </a:xfrm>
          <a:prstGeom prst="rect">
            <a:avLst/>
          </a:prstGeom>
          <a:solidFill>
            <a:srgbClr val="006064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1155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22192" y="1097280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(RBF Kernel)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822192" y="1371600"/>
            <a:ext cx="2084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Kernel-based SVC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310128" y="1700784"/>
            <a:ext cx="2578608" cy="768096"/>
          </a:xfrm>
          <a:prstGeom prst="rect">
            <a:avLst/>
          </a:prstGeom>
          <a:solidFill>
            <a:srgbClr val="0D2A47"/>
          </a:solidFill>
        </p:spPr>
      </p:sp>
      <p:sp>
        <p:nvSpPr>
          <p:cNvPr id="22" name="Text 17"/>
          <p:cNvSpPr/>
          <p:nvPr/>
        </p:nvSpPr>
        <p:spPr>
          <a:xfrm>
            <a:off x="3364992" y="173736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Kernel = RBF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= 10, gamma = 'scale'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5-fold stratified CV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328416" y="256032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Strengths: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328416" y="2834640"/>
            <a:ext cx="254203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Effective in high dimensions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well post-scaling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margin maximisation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Resistant to overfitting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44768" y="1078992"/>
            <a:ext cx="2798064" cy="376732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44768" y="1078992"/>
            <a:ext cx="2798064" cy="548640"/>
          </a:xfrm>
          <a:prstGeom prst="rect">
            <a:avLst/>
          </a:prstGeom>
          <a:solidFill>
            <a:srgbClr val="00897B"/>
          </a:solidFill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11556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766560" y="1097280"/>
            <a:ext cx="20848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⭐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766560" y="1371600"/>
            <a:ext cx="20848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2EB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254496" y="1700784"/>
            <a:ext cx="2578608" cy="768096"/>
          </a:xfrm>
          <a:prstGeom prst="rect">
            <a:avLst/>
          </a:prstGeom>
          <a:solidFill>
            <a:srgbClr val="0D2A47"/>
          </a:solidFill>
        </p:spPr>
      </p:sp>
      <p:sp>
        <p:nvSpPr>
          <p:cNvPr id="31" name="Text 25"/>
          <p:cNvSpPr/>
          <p:nvPr/>
        </p:nvSpPr>
        <p:spPr>
          <a:xfrm>
            <a:off x="6309360" y="173736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300 estimators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lr = 0.05, max_depth = 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L1 + L2 regularisation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272784" y="2560320"/>
            <a:ext cx="2542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Strengths: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272784" y="2834640"/>
            <a:ext cx="2542032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across all 5 metrics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Corrects errors iteratively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SHAP compatibility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feature interactions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5" name="Text 29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ML Models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 Pipeline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115568"/>
            <a:ext cx="4206240" cy="1225296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4206240" cy="9144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0" name="Shape 7"/>
          <p:cNvSpPr/>
          <p:nvPr/>
        </p:nvSpPr>
        <p:spPr>
          <a:xfrm>
            <a:off x="365760" y="1335024"/>
            <a:ext cx="512064" cy="512064"/>
          </a:xfrm>
          <a:prstGeom prst="ellipse">
            <a:avLst/>
          </a:prstGeom>
          <a:solidFill>
            <a:srgbClr val="0D47A1">
              <a:alpha val="8500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365760" y="1335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9264" y="1243584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9264" y="1591056"/>
            <a:ext cx="34015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training (2,620 samples) | 20% test (656 samples)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split preserves class ratio in both sets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81728" y="1115568"/>
            <a:ext cx="4206240" cy="1225296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81728" y="1115568"/>
            <a:ext cx="4206240" cy="914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6" name="Shape 13"/>
          <p:cNvSpPr/>
          <p:nvPr/>
        </p:nvSpPr>
        <p:spPr>
          <a:xfrm>
            <a:off x="4773168" y="1335024"/>
            <a:ext cx="512064" cy="512064"/>
          </a:xfrm>
          <a:prstGeom prst="ellipse">
            <a:avLst/>
          </a:prstGeom>
          <a:solidFill>
            <a:srgbClr val="00897B">
              <a:alpha val="8500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773168" y="1335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76672" y="1243584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on Train Set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76672" y="1591056"/>
            <a:ext cx="34015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Oversample minority class on training data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training set: 3,196 balanced samples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432304"/>
            <a:ext cx="4206240" cy="1225296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432304"/>
            <a:ext cx="4206240" cy="91440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22" name="Shape 19"/>
          <p:cNvSpPr/>
          <p:nvPr/>
        </p:nvSpPr>
        <p:spPr>
          <a:xfrm>
            <a:off x="365760" y="2651760"/>
            <a:ext cx="512064" cy="512064"/>
          </a:xfrm>
          <a:prstGeom prst="ellipse">
            <a:avLst/>
          </a:prstGeom>
          <a:solidFill>
            <a:srgbClr val="006064">
              <a:alpha val="85000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365760" y="26517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9264" y="2560320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 Fit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69264" y="2907792"/>
            <a:ext cx="34015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scaler on training set, transform both train &amp;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data leakage — no test info in scaler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81728" y="2432304"/>
            <a:ext cx="4206240" cy="1225296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81728" y="2432304"/>
            <a:ext cx="4206240" cy="9144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8" name="Shape 25"/>
          <p:cNvSpPr/>
          <p:nvPr/>
        </p:nvSpPr>
        <p:spPr>
          <a:xfrm>
            <a:off x="4773168" y="2651760"/>
            <a:ext cx="512064" cy="512064"/>
          </a:xfrm>
          <a:prstGeom prst="ellipse">
            <a:avLst/>
          </a:prstGeom>
          <a:solidFill>
            <a:srgbClr val="0D47A1">
              <a:alpha val="85000"/>
            </a:srgbClr>
          </a:solidFill>
        </p:spPr>
      </p:sp>
      <p:sp>
        <p:nvSpPr>
          <p:cNvPr id="29" name="Text 26"/>
          <p:cNvSpPr/>
          <p:nvPr/>
        </p:nvSpPr>
        <p:spPr>
          <a:xfrm>
            <a:off x="4773168" y="265176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376672" y="2560320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Stratified CV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376672" y="2907792"/>
            <a:ext cx="34015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Cross-validation within training 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CV score used for hyperparameter selection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3749040"/>
            <a:ext cx="4206240" cy="1225296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74320" y="3749040"/>
            <a:ext cx="4206240" cy="91440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34" name="Shape 31"/>
          <p:cNvSpPr/>
          <p:nvPr/>
        </p:nvSpPr>
        <p:spPr>
          <a:xfrm>
            <a:off x="365760" y="3968496"/>
            <a:ext cx="512064" cy="512064"/>
          </a:xfrm>
          <a:prstGeom prst="ellipse">
            <a:avLst/>
          </a:prstGeom>
          <a:solidFill>
            <a:srgbClr val="00897B">
              <a:alpha val="85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365760" y="396849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69264" y="3877056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69264" y="4224528"/>
            <a:ext cx="34015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RF: 200 trees, max_depth=12 | SVM: C=10, RBF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XGBoost: 300 trees, lr=0.05, L1+L2 regularisation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81728" y="3749040"/>
            <a:ext cx="4206240" cy="1225296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81728" y="3749040"/>
            <a:ext cx="4206240" cy="91440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40" name="Shape 37"/>
          <p:cNvSpPr/>
          <p:nvPr/>
        </p:nvSpPr>
        <p:spPr>
          <a:xfrm>
            <a:off x="4773168" y="3968496"/>
            <a:ext cx="512064" cy="512064"/>
          </a:xfrm>
          <a:prstGeom prst="ellipse">
            <a:avLst/>
          </a:prstGeom>
          <a:solidFill>
            <a:srgbClr val="006064">
              <a:alpha val="85000"/>
            </a:srgbClr>
          </a:solidFill>
        </p:spPr>
      </p:sp>
      <p:sp>
        <p:nvSpPr>
          <p:cNvPr id="41" name="Text 38"/>
          <p:cNvSpPr/>
          <p:nvPr/>
        </p:nvSpPr>
        <p:spPr>
          <a:xfrm>
            <a:off x="4773168" y="396849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76672" y="3877056"/>
            <a:ext cx="340156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76672" y="4224528"/>
            <a:ext cx="3401568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Hold-out test set (20%) — never seen during training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Metrics: Accuracy, F1, Precision, Recall, ROC-AUC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5" name="Text 4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 Metrics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1609344" cy="877824"/>
          </a:xfrm>
          <a:prstGeom prst="rect">
            <a:avLst/>
          </a:prstGeom>
          <a:solidFill>
            <a:srgbClr val="0D47A1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" y="1078992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9184" y="1517904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correct predictions / total samples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93392" y="1078992"/>
            <a:ext cx="1609344" cy="877824"/>
          </a:xfrm>
          <a:prstGeom prst="rect">
            <a:avLst/>
          </a:prstGeom>
          <a:solidFill>
            <a:srgbClr val="00897B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993392" y="1078992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048256" y="1517904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 / (TP + FP)  — avoid false 'safe' labels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712464" y="1078992"/>
            <a:ext cx="1609344" cy="877824"/>
          </a:xfrm>
          <a:prstGeom prst="rect">
            <a:avLst/>
          </a:prstGeom>
          <a:solidFill>
            <a:srgbClr val="E53935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712464" y="1078992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67328" y="1517904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 / (TP + FN)  — minimize missed unsafe water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31536" y="1078992"/>
            <a:ext cx="1609344" cy="877824"/>
          </a:xfrm>
          <a:prstGeom prst="rect">
            <a:avLst/>
          </a:prstGeom>
          <a:solidFill>
            <a:srgbClr val="006064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31536" y="1078992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1517904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Harmonic mean of Precision &amp; Recall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50608" y="1078992"/>
            <a:ext cx="1609344" cy="877824"/>
          </a:xfrm>
          <a:prstGeom prst="rect">
            <a:avLst/>
          </a:prstGeom>
          <a:solidFill>
            <a:srgbClr val="FFD600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150608" y="1078992"/>
            <a:ext cx="16093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05472" y="1517904"/>
            <a:ext cx="149961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Area under ROC curve — overall discriminative ability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74320" y="210312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Structure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188720" y="2487168"/>
            <a:ext cx="1536192" cy="25603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4" name="Text 21"/>
          <p:cNvSpPr/>
          <p:nvPr/>
        </p:nvSpPr>
        <p:spPr>
          <a:xfrm>
            <a:off x="1188720" y="248716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+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0" y="2487168"/>
            <a:ext cx="1536192" cy="25603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6" name="Text 23"/>
          <p:cNvSpPr/>
          <p:nvPr/>
        </p:nvSpPr>
        <p:spPr>
          <a:xfrm>
            <a:off x="2743200" y="2487168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−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2761488"/>
            <a:ext cx="896112" cy="56692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8" name="Text 25"/>
          <p:cNvSpPr/>
          <p:nvPr/>
        </p:nvSpPr>
        <p:spPr>
          <a:xfrm>
            <a:off x="274320" y="2761488"/>
            <a:ext cx="89611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+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3346704"/>
            <a:ext cx="896112" cy="566928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0" name="Text 27"/>
          <p:cNvSpPr/>
          <p:nvPr/>
        </p:nvSpPr>
        <p:spPr>
          <a:xfrm>
            <a:off x="274320" y="3346704"/>
            <a:ext cx="89611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−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188720" y="2761488"/>
            <a:ext cx="1536192" cy="566928"/>
          </a:xfrm>
          <a:prstGeom prst="rect">
            <a:avLst/>
          </a:prstGeom>
          <a:solidFill>
            <a:srgbClr val="C8E6C9"/>
          </a:solidFill>
        </p:spPr>
      </p:sp>
      <p:sp>
        <p:nvSpPr>
          <p:cNvPr id="32" name="Text 29"/>
          <p:cNvSpPr/>
          <p:nvPr/>
        </p:nvSpPr>
        <p:spPr>
          <a:xfrm>
            <a:off x="1188720" y="2761488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743200" y="2761488"/>
            <a:ext cx="1536192" cy="566928"/>
          </a:xfrm>
          <a:prstGeom prst="rect">
            <a:avLst/>
          </a:prstGeom>
          <a:solidFill>
            <a:srgbClr val="FFCDD2"/>
          </a:solidFill>
        </p:spPr>
      </p:sp>
      <p:sp>
        <p:nvSpPr>
          <p:cNvPr id="34" name="Text 31"/>
          <p:cNvSpPr/>
          <p:nvPr/>
        </p:nvSpPr>
        <p:spPr>
          <a:xfrm>
            <a:off x="2743200" y="2761488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188720" y="3346704"/>
            <a:ext cx="1536192" cy="566928"/>
          </a:xfrm>
          <a:prstGeom prst="rect">
            <a:avLst/>
          </a:prstGeom>
          <a:solidFill>
            <a:srgbClr val="FFCDD2"/>
          </a:solidFill>
        </p:spPr>
      </p:sp>
      <p:sp>
        <p:nvSpPr>
          <p:cNvPr id="36" name="Text 33"/>
          <p:cNvSpPr/>
          <p:nvPr/>
        </p:nvSpPr>
        <p:spPr>
          <a:xfrm>
            <a:off x="1188720" y="3346704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743200" y="3346704"/>
            <a:ext cx="1536192" cy="566928"/>
          </a:xfrm>
          <a:prstGeom prst="rect">
            <a:avLst/>
          </a:prstGeom>
          <a:solidFill>
            <a:srgbClr val="C8E6C9"/>
          </a:solidFill>
        </p:spPr>
      </p:sp>
      <p:sp>
        <p:nvSpPr>
          <p:cNvPr id="38" name="Text 35"/>
          <p:cNvSpPr/>
          <p:nvPr/>
        </p:nvSpPr>
        <p:spPr>
          <a:xfrm>
            <a:off x="2743200" y="3346704"/>
            <a:ext cx="1536192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89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663440" y="2103120"/>
            <a:ext cx="4206240" cy="2633472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754880" y="2157984"/>
            <a:ext cx="400507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 Curve Overview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754880" y="25786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54880" y="2852928"/>
            <a:ext cx="2044598" cy="23774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43" name="Text 40"/>
          <p:cNvSpPr/>
          <p:nvPr/>
        </p:nvSpPr>
        <p:spPr>
          <a:xfrm>
            <a:off x="6854342" y="2852928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AUC: 0.86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754880" y="323697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754880" y="3511296"/>
            <a:ext cx="1949501" cy="237744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46" name="Text 43"/>
          <p:cNvSpPr/>
          <p:nvPr/>
        </p:nvSpPr>
        <p:spPr>
          <a:xfrm>
            <a:off x="6759245" y="3511296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AUC: 0.82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754880" y="389534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⭐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754880" y="4169664"/>
            <a:ext cx="2092147" cy="23774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49" name="Text 46"/>
          <p:cNvSpPr/>
          <p:nvPr/>
        </p:nvSpPr>
        <p:spPr>
          <a:xfrm>
            <a:off x="6901891" y="4169664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AUC: 0.88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51" name="Text 4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Model Comparison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Text 5"/>
          <p:cNvSpPr/>
          <p:nvPr/>
        </p:nvSpPr>
        <p:spPr>
          <a:xfrm>
            <a:off x="274320" y="1097280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on Hold-Out Test Set (20% — 656 samples)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274320" y="1481328"/>
          <a:ext cx="8595360" cy="1572768"/>
        </p:xfrm>
        <a:graphic>
          <a:graphicData uri="http://schemas.openxmlformats.org/drawingml/2006/table">
            <a:tbl>
              <a:tblPr/>
              <a:tblGrid>
                <a:gridCol w="1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0.79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7E"/>
                          </a:solidFill>
                        </a:rPr>
                        <a:t>0.86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SVM (RBF)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0.74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0.72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0.68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0.70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4D40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XGBoost ⭐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0.81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0.76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0.77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1628"/>
                          </a:solidFill>
                        </a:rPr>
                        <a:t>0.88 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74320" y="320040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Comparison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35478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029968" y="3602736"/>
            <a:ext cx="3250692" cy="25603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13" name="Text 9"/>
          <p:cNvSpPr/>
          <p:nvPr/>
        </p:nvSpPr>
        <p:spPr>
          <a:xfrm>
            <a:off x="5353812" y="360273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79%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39867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SVM (RBF)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029968" y="4041648"/>
            <a:ext cx="3044952" cy="256032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9" name="Text 12"/>
          <p:cNvSpPr/>
          <p:nvPr/>
        </p:nvSpPr>
        <p:spPr>
          <a:xfrm>
            <a:off x="5148072" y="40416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4320" y="442569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⭐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029968" y="4480560"/>
            <a:ext cx="3332988" cy="25603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9" name="Text 15"/>
          <p:cNvSpPr/>
          <p:nvPr/>
        </p:nvSpPr>
        <p:spPr>
          <a:xfrm>
            <a:off x="5436108" y="448056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3145536"/>
            <a:ext cx="4206240" cy="160934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63440" y="3145536"/>
            <a:ext cx="4206240" cy="91440"/>
          </a:xfrm>
          <a:prstGeom prst="rect">
            <a:avLst/>
          </a:prstGeom>
          <a:solidFill>
            <a:srgbClr val="FFD600"/>
          </a:solidFill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273552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58384" y="321868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XGBoost — Deployed Model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73168" y="3675888"/>
            <a:ext cx="3986784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across all 5 metrics.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 corrects errors iteratively.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L1 + L2 regularisation prevents overfitting.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Native SHAP compatibility enables explainability.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6" name="Text 2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8595360" cy="420624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8" name="Text 5"/>
          <p:cNvSpPr/>
          <p:nvPr/>
        </p:nvSpPr>
        <p:spPr>
          <a:xfrm>
            <a:off x="274320" y="1078992"/>
            <a:ext cx="85953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SHapley Additive exPlanations — Making XGBoost Transparent for Public Health Decisions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609344"/>
            <a:ext cx="2798064" cy="221284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609344"/>
            <a:ext cx="2798064" cy="457200"/>
          </a:xfrm>
          <a:prstGeom prst="rect">
            <a:avLst/>
          </a:prstGeom>
          <a:solidFill>
            <a:srgbClr val="0D47A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162763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Bar Plot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84048" y="2121408"/>
            <a:ext cx="2578608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absolute SHAP values per feature.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Ranks overall feature importance across all predictions.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WQI and Sulfate consistently top-ranked.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18688" y="1609344"/>
            <a:ext cx="2798064" cy="221284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18688" y="1609344"/>
            <a:ext cx="2798064" cy="457200"/>
          </a:xfrm>
          <a:prstGeom prst="rect">
            <a:avLst/>
          </a:prstGeom>
          <a:solidFill>
            <a:srgbClr val="00897B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6459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0" y="162763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Beeswarm Plot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28416" y="2121408"/>
            <a:ext cx="2578608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Per-sample SHAP values — shows direction (positive/negative) and magnitude.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Reveals how each feature value shifts predictions toward Safe or Unsafe.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63056" y="1609344"/>
            <a:ext cx="2798064" cy="221284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63056" y="1609344"/>
            <a:ext cx="2798064" cy="457200"/>
          </a:xfrm>
          <a:prstGeom prst="rect">
            <a:avLst/>
          </a:prstGeom>
          <a:solidFill>
            <a:srgbClr val="006064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16459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93408" y="1627632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Waterfall Plot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72784" y="2121408"/>
            <a:ext cx="2578608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Single-prediction explanation step-by-step.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exactly which features pushed a specific water sample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toward Potable or Non-Potable classification.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274320" y="3913632"/>
            <a:ext cx="8595360" cy="87782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02336" y="39684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SHAP Findings: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02336" y="4261104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Sulfate &amp; Solids are the most influential raw features  •  Engineered WQI consistently ranks top-3  •  High Chloramines strongly pushes toward Not Potable  •  pH_safe flag provides a clean interpretable signal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8" name="Text 22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SHAP Explainability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Web Application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115568"/>
            <a:ext cx="2798064" cy="151790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2798064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0" name="Shape 7"/>
          <p:cNvSpPr/>
          <p:nvPr/>
        </p:nvSpPr>
        <p:spPr>
          <a:xfrm>
            <a:off x="365760" y="1298448"/>
            <a:ext cx="512064" cy="512064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3350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0976" y="128016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Sidebar Sliders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65760" y="1865376"/>
            <a:ext cx="261518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parameter sliders (pH, Turbidity…) — one per raw feature. Intuitive range-bounded inputs.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18688" y="1115568"/>
            <a:ext cx="2798064" cy="151790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18688" y="1115568"/>
            <a:ext cx="2798064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6" name="Shape 12"/>
          <p:cNvSpPr/>
          <p:nvPr/>
        </p:nvSpPr>
        <p:spPr>
          <a:xfrm>
            <a:off x="3310128" y="1298448"/>
            <a:ext cx="512064" cy="512064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133502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95344" y="128016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WQI Computation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310128" y="1865376"/>
            <a:ext cx="261518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Water Quality Index calculated in real-time from slider values — displayed prominently.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63056" y="1115568"/>
            <a:ext cx="2798064" cy="151790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63056" y="1115568"/>
            <a:ext cx="2798064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2" name="Shape 17"/>
          <p:cNvSpPr/>
          <p:nvPr/>
        </p:nvSpPr>
        <p:spPr>
          <a:xfrm>
            <a:off x="6254496" y="1298448"/>
            <a:ext cx="512064" cy="512064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33502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39712" y="1280160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One-Click Predict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254496" y="1865376"/>
            <a:ext cx="261518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inference on engineered features. Result: Potable ✅ or Not Potable ❌.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74320" y="2743200"/>
            <a:ext cx="2798064" cy="151790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4320" y="2743200"/>
            <a:ext cx="2798064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8" name="Shape 22"/>
          <p:cNvSpPr/>
          <p:nvPr/>
        </p:nvSpPr>
        <p:spPr>
          <a:xfrm>
            <a:off x="365760" y="2926080"/>
            <a:ext cx="512064" cy="512064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2962656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0976" y="2907792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Probability Chart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365760" y="3493008"/>
            <a:ext cx="261518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 of class probabilities — shows confidence of each prediction visually.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218688" y="2743200"/>
            <a:ext cx="2798064" cy="151790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18688" y="2743200"/>
            <a:ext cx="2798064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4" name="Shape 27"/>
          <p:cNvSpPr/>
          <p:nvPr/>
        </p:nvSpPr>
        <p:spPr>
          <a:xfrm>
            <a:off x="3310128" y="2926080"/>
            <a:ext cx="512064" cy="512064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2962656"/>
            <a:ext cx="438912" cy="4389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895344" y="2907792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Summary Table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310128" y="3493008"/>
            <a:ext cx="261518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summary of all 9 raw + 3 engineered features displayed for transparency.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163056" y="2743200"/>
            <a:ext cx="2798064" cy="1517904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163056" y="2743200"/>
            <a:ext cx="2798064" cy="73152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40" name="Shape 32"/>
          <p:cNvSpPr/>
          <p:nvPr/>
        </p:nvSpPr>
        <p:spPr>
          <a:xfrm>
            <a:off x="6254496" y="2926080"/>
            <a:ext cx="512064" cy="512064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2962656"/>
            <a:ext cx="438912" cy="43891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839712" y="2907792"/>
            <a:ext cx="20299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Handling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254496" y="3493008"/>
            <a:ext cx="261518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Graceful handling of edge-case slider values — app never crashes on boundary inputs.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Web Application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BB84CA-8518-C47E-71FB-71A6CEE4B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1042416"/>
            <a:ext cx="4324281" cy="2491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6B81D-3D61-E007-0987-5F8C75168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1" y="1042416"/>
            <a:ext cx="4572000" cy="24912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BB6A09-7F7F-B51E-8C42-359F0E7EA585}"/>
              </a:ext>
            </a:extLst>
          </p:cNvPr>
          <p:cNvSpPr txBox="1"/>
          <p:nvPr/>
        </p:nvSpPr>
        <p:spPr>
          <a:xfrm>
            <a:off x="2267712" y="3717654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🌐 </a:t>
            </a:r>
            <a:r>
              <a:rPr lang="en-US" b="1" dirty="0">
                <a:solidFill>
                  <a:schemeClr val="bg1"/>
                </a:solidFill>
              </a:rPr>
              <a:t>Live Demo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 err="1">
                <a:solidFill>
                  <a:schemeClr val="bg1"/>
                </a:solidFill>
              </a:rPr>
              <a:t>Streamlit</a:t>
            </a:r>
            <a:r>
              <a:rPr lang="en-US" b="1" dirty="0">
                <a:solidFill>
                  <a:schemeClr val="bg1"/>
                </a:solidFill>
              </a:rPr>
              <a:t> App: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u="sng" dirty="0">
                <a:hlinkClick r:id="rId6"/>
              </a:rPr>
              <a:t>https://predictive-project03-ug6mfxcp9ag8rssuuqvt27.streamlit.app/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Sensor Simulation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274320" y="1078992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Real-Time Monitoring Architecture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517904"/>
            <a:ext cx="1828800" cy="1097280"/>
          </a:xfrm>
          <a:prstGeom prst="rect">
            <a:avLst/>
          </a:prstGeom>
          <a:solidFill>
            <a:srgbClr val="1565C0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59105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210312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 Sensor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(Simulated)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212848" y="1920240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2468880" y="1517904"/>
            <a:ext cx="1828800" cy="1097280"/>
          </a:xfrm>
          <a:prstGeom prst="rect">
            <a:avLst/>
          </a:prstGeom>
          <a:solidFill>
            <a:srgbClr val="00897B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159105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68880" y="210312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315968" y="1920240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4572000" y="1517904"/>
            <a:ext cx="1828800" cy="1097280"/>
          </a:xfrm>
          <a:prstGeom prst="rect">
            <a:avLst/>
          </a:prstGeom>
          <a:solidFill>
            <a:srgbClr val="006064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159105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0" y="210312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419088" y="1920240"/>
            <a:ext cx="256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675120" y="1517904"/>
            <a:ext cx="1828800" cy="1097280"/>
          </a:xfrm>
          <a:prstGeom prst="rect">
            <a:avLst/>
          </a:prstGeom>
          <a:solidFill>
            <a:srgbClr val="0D47A1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159105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75120" y="2103120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274320" y="2761488"/>
            <a:ext cx="85953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7A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Simulation Output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274320" y="3127248"/>
          <a:ext cx="8595363" cy="1389888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Turbidity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WQI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01:33:12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7.3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3.21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0.612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✅  Potable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84.3%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01:33:12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5.1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5.87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0.341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❌  Not Potable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91.2%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01:33:13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7.9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2.44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0.708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✅  Potable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37E"/>
                          </a:solidFill>
                        </a:rPr>
                        <a:t>88.6%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26" name="Text 18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IoT Simulation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56032" y="1115568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115568"/>
            <a:ext cx="2798064" cy="73152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0" name="Shape 7"/>
          <p:cNvSpPr/>
          <p:nvPr/>
        </p:nvSpPr>
        <p:spPr>
          <a:xfrm>
            <a:off x="347472" y="1316736"/>
            <a:ext cx="603504" cy="603504"/>
          </a:xfrm>
          <a:prstGeom prst="ellipse">
            <a:avLst/>
          </a:prstGeom>
          <a:solidFill>
            <a:srgbClr val="1565C0">
              <a:alpha val="85000"/>
            </a:srgbClr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53312"/>
            <a:ext cx="530352" cy="5303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243584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24128" y="1572768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00400" y="1115568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0" y="1115568"/>
            <a:ext cx="2798064" cy="73152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16" name="Shape 12"/>
          <p:cNvSpPr/>
          <p:nvPr/>
        </p:nvSpPr>
        <p:spPr>
          <a:xfrm>
            <a:off x="3291840" y="1316736"/>
            <a:ext cx="603504" cy="603504"/>
          </a:xfrm>
          <a:prstGeom prst="ellipse">
            <a:avLst/>
          </a:prstGeom>
          <a:solidFill>
            <a:srgbClr val="006064">
              <a:alpha val="85000"/>
            </a:srgbClr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1353312"/>
            <a:ext cx="530352" cy="5303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68496" y="1243584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968496" y="1572768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 · XGBoost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44768" y="1115568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44768" y="1115568"/>
            <a:ext cx="2798064" cy="73152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22" name="Shape 17"/>
          <p:cNvSpPr/>
          <p:nvPr/>
        </p:nvSpPr>
        <p:spPr>
          <a:xfrm>
            <a:off x="6236208" y="1316736"/>
            <a:ext cx="603504" cy="603504"/>
          </a:xfrm>
          <a:prstGeom prst="ellipse">
            <a:avLst/>
          </a:prstGeom>
          <a:solidFill>
            <a:srgbClr val="00897B">
              <a:alpha val="85000"/>
            </a:srgbClr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1353312"/>
            <a:ext cx="530352" cy="5303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1243584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912864" y="1572768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imbalanced-learn · SMOTE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56032" y="2432304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56032" y="2432304"/>
            <a:ext cx="2798064" cy="73152"/>
          </a:xfrm>
          <a:prstGeom prst="rect">
            <a:avLst/>
          </a:prstGeom>
          <a:solidFill>
            <a:srgbClr val="0277BD"/>
          </a:solidFill>
        </p:spPr>
      </p:sp>
      <p:sp>
        <p:nvSpPr>
          <p:cNvPr id="28" name="Shape 22"/>
          <p:cNvSpPr/>
          <p:nvPr/>
        </p:nvSpPr>
        <p:spPr>
          <a:xfrm>
            <a:off x="347472" y="2633472"/>
            <a:ext cx="603504" cy="603504"/>
          </a:xfrm>
          <a:prstGeom prst="ellipse">
            <a:avLst/>
          </a:prstGeom>
          <a:solidFill>
            <a:srgbClr val="0277BD">
              <a:alpha val="85000"/>
            </a:srgbClr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2670048"/>
            <a:ext cx="530352" cy="5303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24128" y="2560320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024128" y="2889504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3200400" y="2432304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00400" y="2432304"/>
            <a:ext cx="2798064" cy="73152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34" name="Shape 27"/>
          <p:cNvSpPr/>
          <p:nvPr/>
        </p:nvSpPr>
        <p:spPr>
          <a:xfrm>
            <a:off x="3291840" y="2633472"/>
            <a:ext cx="603504" cy="603504"/>
          </a:xfrm>
          <a:prstGeom prst="ellipse">
            <a:avLst/>
          </a:prstGeom>
          <a:solidFill>
            <a:srgbClr val="00695C">
              <a:alpha val="85000"/>
            </a:srgbClr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8416" y="2670048"/>
            <a:ext cx="530352" cy="5303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968496" y="2560320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3968496" y="2889504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pandas · NumPy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6144768" y="2432304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144768" y="2432304"/>
            <a:ext cx="2798064" cy="73152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40" name="Shape 32"/>
          <p:cNvSpPr/>
          <p:nvPr/>
        </p:nvSpPr>
        <p:spPr>
          <a:xfrm>
            <a:off x="6236208" y="2633472"/>
            <a:ext cx="603504" cy="603504"/>
          </a:xfrm>
          <a:prstGeom prst="ellipse">
            <a:avLst/>
          </a:prstGeom>
          <a:solidFill>
            <a:srgbClr val="1976D2">
              <a:alpha val="85000"/>
            </a:srgbClr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2670048"/>
            <a:ext cx="530352" cy="53035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912864" y="2560320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6912864" y="2889504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 · Seaborn</a:t>
            </a:r>
            <a:endParaRPr lang="en-US" sz="1150" dirty="0"/>
          </a:p>
        </p:txBody>
      </p:sp>
      <p:sp>
        <p:nvSpPr>
          <p:cNvPr id="44" name="Shape 35"/>
          <p:cNvSpPr/>
          <p:nvPr/>
        </p:nvSpPr>
        <p:spPr>
          <a:xfrm>
            <a:off x="256032" y="3749040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256032" y="3749040"/>
            <a:ext cx="2798064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46" name="Shape 37"/>
          <p:cNvSpPr/>
          <p:nvPr/>
        </p:nvSpPr>
        <p:spPr>
          <a:xfrm>
            <a:off x="347472" y="3950208"/>
            <a:ext cx="603504" cy="603504"/>
          </a:xfrm>
          <a:prstGeom prst="ellipse">
            <a:avLst/>
          </a:prstGeom>
          <a:solidFill>
            <a:srgbClr val="0D47A1">
              <a:alpha val="85000"/>
            </a:srgbClr>
          </a:solidFill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" y="3986784"/>
            <a:ext cx="530352" cy="53035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24128" y="3877056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1024128" y="4206240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50" name="Shape 40"/>
          <p:cNvSpPr/>
          <p:nvPr/>
        </p:nvSpPr>
        <p:spPr>
          <a:xfrm>
            <a:off x="3200400" y="3749040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3200400" y="3749040"/>
            <a:ext cx="2798064" cy="73152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52" name="Shape 42"/>
          <p:cNvSpPr/>
          <p:nvPr/>
        </p:nvSpPr>
        <p:spPr>
          <a:xfrm>
            <a:off x="3291840" y="3950208"/>
            <a:ext cx="603504" cy="603504"/>
          </a:xfrm>
          <a:prstGeom prst="ellipse">
            <a:avLst/>
          </a:prstGeom>
          <a:solidFill>
            <a:srgbClr val="1565C0">
              <a:alpha val="85000"/>
            </a:srgbClr>
          </a:solidFill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8416" y="3986784"/>
            <a:ext cx="530352" cy="53035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3968496" y="3877056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3968496" y="4206240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· GitHub</a:t>
            </a:r>
            <a:endParaRPr lang="en-US" sz="1150" dirty="0"/>
          </a:p>
        </p:txBody>
      </p:sp>
      <p:sp>
        <p:nvSpPr>
          <p:cNvPr id="56" name="Shape 45"/>
          <p:cNvSpPr/>
          <p:nvPr/>
        </p:nvSpPr>
        <p:spPr>
          <a:xfrm>
            <a:off x="6144768" y="3749040"/>
            <a:ext cx="2798064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Shape 46"/>
          <p:cNvSpPr/>
          <p:nvPr/>
        </p:nvSpPr>
        <p:spPr>
          <a:xfrm>
            <a:off x="6144768" y="3749040"/>
            <a:ext cx="2798064" cy="73152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58" name="Shape 47"/>
          <p:cNvSpPr/>
          <p:nvPr/>
        </p:nvSpPr>
        <p:spPr>
          <a:xfrm>
            <a:off x="6236208" y="3950208"/>
            <a:ext cx="603504" cy="603504"/>
          </a:xfrm>
          <a:prstGeom prst="ellipse">
            <a:avLst/>
          </a:prstGeom>
          <a:solidFill>
            <a:srgbClr val="006064">
              <a:alpha val="85000"/>
            </a:srgbClr>
          </a:solidFill>
        </p:spPr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3986784"/>
            <a:ext cx="530352" cy="530352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6912864" y="3877056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Notebook</a:t>
            </a:r>
            <a:endParaRPr lang="en-US" sz="1200" dirty="0"/>
          </a:p>
        </p:txBody>
      </p:sp>
      <p:sp>
        <p:nvSpPr>
          <p:cNvPr id="61" name="Text 49"/>
          <p:cNvSpPr/>
          <p:nvPr/>
        </p:nvSpPr>
        <p:spPr>
          <a:xfrm>
            <a:off x="6912864" y="4206240"/>
            <a:ext cx="193852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Jupyter Notebook</a:t>
            </a:r>
            <a:endParaRPr lang="en-US" sz="1150" dirty="0"/>
          </a:p>
        </p:txBody>
      </p:sp>
      <p:sp>
        <p:nvSpPr>
          <p:cNvPr id="62" name="Shape 5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63" name="Text 5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55448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22376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4206240" cy="120700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78992"/>
            <a:ext cx="4206240" cy="73152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9" name="Shape 6"/>
          <p:cNvSpPr/>
          <p:nvPr/>
        </p:nvSpPr>
        <p:spPr>
          <a:xfrm>
            <a:off x="365760" y="1280160"/>
            <a:ext cx="566928" cy="566928"/>
          </a:xfrm>
          <a:prstGeom prst="ellipse">
            <a:avLst/>
          </a:prstGeom>
          <a:solidFill>
            <a:srgbClr val="1565C0">
              <a:alpha val="85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365760" y="1280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24128" y="1170432"/>
            <a:ext cx="3346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IoT Integration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1517904"/>
            <a:ext cx="3346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to physical sensors (Arduino / Raspberry Pi) via MQTT for continuous water quality monitoring in the field.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81728" y="1078992"/>
            <a:ext cx="4206240" cy="120700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1728" y="1078992"/>
            <a:ext cx="4206240" cy="73152"/>
          </a:xfrm>
          <a:prstGeom prst="rect">
            <a:avLst/>
          </a:prstGeom>
          <a:solidFill>
            <a:srgbClr val="00897B"/>
          </a:solidFill>
        </p:spPr>
      </p:sp>
      <p:sp>
        <p:nvSpPr>
          <p:cNvPr id="15" name="Shape 12"/>
          <p:cNvSpPr/>
          <p:nvPr/>
        </p:nvSpPr>
        <p:spPr>
          <a:xfrm>
            <a:off x="4773168" y="1280160"/>
            <a:ext cx="566928" cy="566928"/>
          </a:xfrm>
          <a:prstGeom prst="ellipse">
            <a:avLst/>
          </a:prstGeom>
          <a:solidFill>
            <a:srgbClr val="00897B">
              <a:alpha val="85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4773168" y="12801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31536" y="1170432"/>
            <a:ext cx="3346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31536" y="1517904"/>
            <a:ext cx="3346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Native mobile app wrapping the Streamlit API — field workers can classify samples from their phones.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377440"/>
            <a:ext cx="4206240" cy="120700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2377440"/>
            <a:ext cx="4206240" cy="73152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21" name="Shape 18"/>
          <p:cNvSpPr/>
          <p:nvPr/>
        </p:nvSpPr>
        <p:spPr>
          <a:xfrm>
            <a:off x="365760" y="2578608"/>
            <a:ext cx="566928" cy="566928"/>
          </a:xfrm>
          <a:prstGeom prst="ellipse">
            <a:avLst/>
          </a:prstGeom>
          <a:solidFill>
            <a:srgbClr val="006064">
              <a:alpha val="8500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365760" y="25786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24128" y="2468880"/>
            <a:ext cx="3346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Regional Dashboard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2816352"/>
            <a:ext cx="3346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SHAP-powered region-specific water quality maps highlighting contamination hotspots across geographies.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81728" y="2377440"/>
            <a:ext cx="4206240" cy="120700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81728" y="2377440"/>
            <a:ext cx="4206240" cy="73152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7" name="Shape 24"/>
          <p:cNvSpPr/>
          <p:nvPr/>
        </p:nvSpPr>
        <p:spPr>
          <a:xfrm>
            <a:off x="4773168" y="2578608"/>
            <a:ext cx="566928" cy="566928"/>
          </a:xfrm>
          <a:prstGeom prst="ellipse">
            <a:avLst/>
          </a:prstGeom>
          <a:solidFill>
            <a:srgbClr val="0D47A1">
              <a:alpha val="8500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4773168" y="25786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31536" y="2468880"/>
            <a:ext cx="3346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— TabNet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431536" y="2816352"/>
            <a:ext cx="3346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TabNet for tabular classification — attention mechanism may capture complex feature interactions better.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3675888"/>
            <a:ext cx="4206240" cy="120700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74320" y="3675888"/>
            <a:ext cx="4206240" cy="73152"/>
          </a:xfrm>
          <a:prstGeom prst="rect">
            <a:avLst/>
          </a:prstGeom>
          <a:solidFill>
            <a:srgbClr val="1976D2"/>
          </a:solidFill>
        </p:spPr>
      </p:sp>
      <p:sp>
        <p:nvSpPr>
          <p:cNvPr id="33" name="Shape 30"/>
          <p:cNvSpPr/>
          <p:nvPr/>
        </p:nvSpPr>
        <p:spPr>
          <a:xfrm>
            <a:off x="365760" y="3877056"/>
            <a:ext cx="566928" cy="566928"/>
          </a:xfrm>
          <a:prstGeom prst="ellipse">
            <a:avLst/>
          </a:prstGeom>
          <a:solidFill>
            <a:srgbClr val="1976D2">
              <a:alpha val="85000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365760" y="387705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24128" y="3767328"/>
            <a:ext cx="3346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Multi-Class Severity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24128" y="4114800"/>
            <a:ext cx="3346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from binary (Safe/Unsafe) to severity levels: Safe / Borderline / Contaminated / Critical.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81728" y="3675888"/>
            <a:ext cx="4206240" cy="1207008"/>
          </a:xfrm>
          <a:prstGeom prst="rect">
            <a:avLst/>
          </a:prstGeom>
          <a:solidFill>
            <a:srgbClr val="0A1628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81728" y="3675888"/>
            <a:ext cx="4206240" cy="73152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39" name="Shape 36"/>
          <p:cNvSpPr/>
          <p:nvPr/>
        </p:nvSpPr>
        <p:spPr>
          <a:xfrm>
            <a:off x="4773168" y="3877056"/>
            <a:ext cx="566928" cy="566928"/>
          </a:xfrm>
          <a:prstGeom prst="ellipse">
            <a:avLst/>
          </a:prstGeom>
          <a:solidFill>
            <a:srgbClr val="00695C">
              <a:alpha val="85000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4773168" y="387705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5431536" y="3767328"/>
            <a:ext cx="334670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 Drift Detection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31536" y="4114800"/>
            <a:ext cx="3346704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model performance on incoming data streams — retrain automatically when drift is detected.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4" name="Text 41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Future Scope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0D2137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64592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54864"/>
            <a:ext cx="71323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38160" y="91440"/>
            <a:ext cx="822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64592" y="914400"/>
            <a:ext cx="8979408" cy="54864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8" name="Shape 5"/>
          <p:cNvSpPr/>
          <p:nvPr/>
        </p:nvSpPr>
        <p:spPr>
          <a:xfrm>
            <a:off x="274320" y="1115568"/>
            <a:ext cx="4206240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109728" cy="1207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0" name="Shape 7"/>
          <p:cNvSpPr/>
          <p:nvPr/>
        </p:nvSpPr>
        <p:spPr>
          <a:xfrm>
            <a:off x="457200" y="1408176"/>
            <a:ext cx="530352" cy="53035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14447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120700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 ML Pipeline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1572768"/>
            <a:ext cx="32918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data science pipeline across 10 structured stages — from raw CSV to live Streamlit deployment.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81728" y="1115568"/>
            <a:ext cx="4206240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81728" y="1115568"/>
            <a:ext cx="109728" cy="1207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16" name="Shape 12"/>
          <p:cNvSpPr/>
          <p:nvPr/>
        </p:nvSpPr>
        <p:spPr>
          <a:xfrm>
            <a:off x="4864608" y="1408176"/>
            <a:ext cx="530352" cy="53035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44475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1207008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Best Model (81% Acc)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0" y="1572768"/>
            <a:ext cx="32918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outperforms RF and SVM across all 5 metrics. ROC-AUC of 0.88 confirms strong discriminative ability.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432304"/>
            <a:ext cx="4206240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432304"/>
            <a:ext cx="109728" cy="1207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2" name="Shape 17"/>
          <p:cNvSpPr/>
          <p:nvPr/>
        </p:nvSpPr>
        <p:spPr>
          <a:xfrm>
            <a:off x="457200" y="2724912"/>
            <a:ext cx="530352" cy="53035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2761488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2523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Interpretable Predictions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78992" y="2889504"/>
            <a:ext cx="32918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analysis makes the model transparent — critical for public health decisions. WQI and Sulfate are top drivers.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81728" y="2432304"/>
            <a:ext cx="4206240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81728" y="2432304"/>
            <a:ext cx="109728" cy="1207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28" name="Shape 22"/>
          <p:cNvSpPr/>
          <p:nvPr/>
        </p:nvSpPr>
        <p:spPr>
          <a:xfrm>
            <a:off x="4864608" y="2724912"/>
            <a:ext cx="530352" cy="53035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2761488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86400" y="2523744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 &amp; Balanced Training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0" y="2889504"/>
            <a:ext cx="32918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 ensures both classes are equally learned — reducing bias toward the Non-Potable majority class.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74320" y="3749040"/>
            <a:ext cx="4206240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274320" y="3749040"/>
            <a:ext cx="109728" cy="1207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34" name="Shape 27"/>
          <p:cNvSpPr/>
          <p:nvPr/>
        </p:nvSpPr>
        <p:spPr>
          <a:xfrm>
            <a:off x="457200" y="4041648"/>
            <a:ext cx="530352" cy="53035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" y="4078224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78992" y="384048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Deployment Ready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078992" y="4206240"/>
            <a:ext cx="32918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app with live inference, WQI computation, and probability output — deployable in minutes via Streamlit Cloud.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681728" y="3749040"/>
            <a:ext cx="4206240" cy="1207008"/>
          </a:xfrm>
          <a:prstGeom prst="rect">
            <a:avLst/>
          </a:prstGeom>
          <a:solidFill>
            <a:srgbClr val="0D2137"/>
          </a:solidFill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4681728" y="3749040"/>
            <a:ext cx="109728" cy="1207008"/>
          </a:xfrm>
          <a:prstGeom prst="rect">
            <a:avLst/>
          </a:prstGeom>
          <a:solidFill>
            <a:srgbClr val="00BCD4"/>
          </a:solidFill>
        </p:spPr>
      </p:sp>
      <p:sp>
        <p:nvSpPr>
          <p:cNvPr id="40" name="Shape 32"/>
          <p:cNvSpPr/>
          <p:nvPr/>
        </p:nvSpPr>
        <p:spPr>
          <a:xfrm>
            <a:off x="4864608" y="4041648"/>
            <a:ext cx="530352" cy="530352"/>
          </a:xfrm>
          <a:prstGeom prst="ellipse">
            <a:avLst/>
          </a:prstGeom>
          <a:solidFill>
            <a:srgbClr val="0D47A1"/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1184" y="4078224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486400" y="3840480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Health Impact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5486400" y="4206240"/>
            <a:ext cx="329184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Millisecond inference vs 24–72h lab testing. Scalable, accessible, and explainable water safety for all regions.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45" name="Text 36"/>
          <p:cNvSpPr/>
          <p:nvPr/>
        </p:nvSpPr>
        <p:spPr>
          <a:xfrm>
            <a:off x="274320" y="4956048"/>
            <a:ext cx="8595360" cy="1874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 |  Predictive Analytics 2025–26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3200400" cy="3200400"/>
          </a:xfrm>
          <a:prstGeom prst="ellipse">
            <a:avLst/>
          </a:prstGeom>
          <a:solidFill>
            <a:srgbClr val="0D47A1">
              <a:alpha val="32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"/>
            <a:ext cx="1828800" cy="1828800"/>
          </a:xfrm>
          <a:prstGeom prst="ellipse">
            <a:avLst/>
          </a:prstGeom>
          <a:solidFill>
            <a:srgbClr val="00BCD4">
              <a:alpha val="38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822960" y="3474720"/>
            <a:ext cx="2743200" cy="2743200"/>
          </a:xfrm>
          <a:prstGeom prst="ellipse">
            <a:avLst/>
          </a:prstGeom>
          <a:solidFill>
            <a:srgbClr val="0D47A1">
              <a:alpha val="28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7432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61872"/>
            <a:ext cx="82296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0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011680" y="2615184"/>
            <a:ext cx="5120640" cy="54864"/>
          </a:xfrm>
          <a:prstGeom prst="rect">
            <a:avLst/>
          </a:prstGeom>
          <a:solidFill>
            <a:srgbClr val="00BCD4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81635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346704"/>
            <a:ext cx="8229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Ananthan S  (@ananthans-Techie)     |     Muhammed Shahid  (@muhammedshahidsds25-collab)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374904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264" y="374904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github.com/ananthans-Techie/Predictive-Project03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57200" y="424281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 Analytics  —  Group Project 03  —  Academic Year 2025–26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137"/>
          </a:solidFill>
        </p:spPr>
      </p:sp>
      <p:sp>
        <p:nvSpPr>
          <p:cNvPr id="15" name="Text 1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CA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Quality Classification for Safe Drinking Prediction  |  Built with passion, not just to finish it.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2371</Words>
  <Application>Microsoft Office PowerPoint</Application>
  <PresentationFormat>On-screen Show (16:9)</PresentationFormat>
  <Paragraphs>582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Quality Classification</dc:title>
  <dc:subject>PptxGenJS Presentation</dc:subject>
  <dc:creator>PptxGenJS</dc:creator>
  <cp:lastModifiedBy>shahid s</cp:lastModifiedBy>
  <cp:revision>4</cp:revision>
  <dcterms:created xsi:type="dcterms:W3CDTF">2026-05-09T20:12:00Z</dcterms:created>
  <dcterms:modified xsi:type="dcterms:W3CDTF">2026-05-15T20:40:08Z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85863B517BA640598FF4750DA522E9A1_12</vt:lpwstr>
  </property>
  <property fmtid="{D5CDD505-2E9C-101B-9397-08002B2CF9AE}" pid="3" name="KSOProductBuildVer">
    <vt:lpwstr>1033-12.1.0.26372</vt:lpwstr>
  </property>
</Properties>
</file>